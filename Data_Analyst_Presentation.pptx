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3" r:id="rId8"/>
    <p:sldId id="262" r:id="rId9"/>
    <p:sldId id="264" r:id="rId10"/>
    <p:sldId id="266" r:id="rId11"/>
    <p:sldId id="265" r:id="rId12"/>
    <p:sldId id="267" r:id="rId13"/>
    <p:sldId id="273" r:id="rId14"/>
    <p:sldId id="276" r:id="rId15"/>
    <p:sldId id="277" r:id="rId16"/>
    <p:sldId id="278" r:id="rId17"/>
    <p:sldId id="269" r:id="rId18"/>
    <p:sldId id="270" r:id="rId19"/>
    <p:sldId id="271" r:id="rId20"/>
    <p:sldId id="274" r:id="rId21"/>
    <p:sldId id="275"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A8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876"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648080"/>
            <a:ext cx="7800340" cy="635000"/>
          </a:xfrm>
          <a:prstGeom prst="rect">
            <a:avLst/>
          </a:prstGeom>
        </p:spPr>
        <p:txBody>
          <a:bodyPr wrap="square" lIns="0" tIns="0" rIns="0" bIns="0">
            <a:spAutoFit/>
          </a:bodyPr>
          <a:lstStyle>
            <a:lvl1pPr>
              <a:defRPr sz="4000" b="1" i="0">
                <a:solidFill>
                  <a:srgbClr val="252525"/>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rgbClr val="252525"/>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252525"/>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rgbClr val="252525"/>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252525"/>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252525"/>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679825" y="1426164"/>
            <a:ext cx="4821548" cy="4818781"/>
          </a:xfrm>
          <a:prstGeom prst="rect">
            <a:avLst/>
          </a:prstGeom>
        </p:spPr>
      </p:pic>
      <p:pic>
        <p:nvPicPr>
          <p:cNvPr id="17" name="bg object 17"/>
          <p:cNvPicPr/>
          <p:nvPr/>
        </p:nvPicPr>
        <p:blipFill>
          <a:blip r:embed="rId8" cstate="print"/>
          <a:stretch>
            <a:fillRect/>
          </a:stretch>
        </p:blipFill>
        <p:spPr>
          <a:xfrm>
            <a:off x="11337925" y="6372555"/>
            <a:ext cx="613054" cy="243052"/>
          </a:xfrm>
          <a:prstGeom prst="rect">
            <a:avLst/>
          </a:prstGeom>
        </p:spPr>
      </p:pic>
      <p:pic>
        <p:nvPicPr>
          <p:cNvPr id="18" name="bg object 18"/>
          <p:cNvPicPr/>
          <p:nvPr/>
        </p:nvPicPr>
        <p:blipFill>
          <a:blip r:embed="rId9" cstate="print"/>
          <a:stretch>
            <a:fillRect/>
          </a:stretch>
        </p:blipFill>
        <p:spPr>
          <a:xfrm>
            <a:off x="241058" y="6372097"/>
            <a:ext cx="1630680" cy="247650"/>
          </a:xfrm>
          <a:prstGeom prst="rect">
            <a:avLst/>
          </a:prstGeom>
        </p:spPr>
      </p:pic>
      <p:sp>
        <p:nvSpPr>
          <p:cNvPr id="19" name="bg object 19"/>
          <p:cNvSpPr/>
          <p:nvPr/>
        </p:nvSpPr>
        <p:spPr>
          <a:xfrm>
            <a:off x="838200" y="1364233"/>
            <a:ext cx="10515600" cy="635"/>
          </a:xfrm>
          <a:custGeom>
            <a:avLst/>
            <a:gdLst/>
            <a:ahLst/>
            <a:cxnLst/>
            <a:rect l="l" t="t" r="r" b="b"/>
            <a:pathLst>
              <a:path w="10515600" h="634">
                <a:moveTo>
                  <a:pt x="0" y="0"/>
                </a:moveTo>
                <a:lnTo>
                  <a:pt x="10515600" y="380"/>
                </a:lnTo>
              </a:path>
            </a:pathLst>
          </a:custGeom>
          <a:ln w="6350">
            <a:solidFill>
              <a:srgbClr val="6C4DEA"/>
            </a:solidFill>
          </a:ln>
        </p:spPr>
        <p:txBody>
          <a:bodyPr wrap="square" lIns="0" tIns="0" rIns="0" bIns="0" rtlCol="0"/>
          <a:lstStyle/>
          <a:p>
            <a:endParaRPr/>
          </a:p>
        </p:txBody>
      </p:sp>
      <p:sp>
        <p:nvSpPr>
          <p:cNvPr id="2" name="Holder 2"/>
          <p:cNvSpPr>
            <a:spLocks noGrp="1"/>
          </p:cNvSpPr>
          <p:nvPr>
            <p:ph type="title"/>
          </p:nvPr>
        </p:nvSpPr>
        <p:spPr>
          <a:xfrm>
            <a:off x="617016" y="546861"/>
            <a:ext cx="10029393" cy="754253"/>
          </a:xfrm>
          <a:prstGeom prst="rect">
            <a:avLst/>
          </a:prstGeom>
        </p:spPr>
        <p:txBody>
          <a:bodyPr wrap="square" lIns="0" tIns="0" rIns="0" bIns="0">
            <a:spAutoFit/>
          </a:bodyPr>
          <a:lstStyle>
            <a:lvl1pPr>
              <a:defRPr sz="4000" b="1" i="0">
                <a:solidFill>
                  <a:srgbClr val="252525"/>
                </a:solidFill>
                <a:latin typeface="Calibri"/>
                <a:cs typeface="Calibri"/>
              </a:defRPr>
            </a:lvl1pPr>
          </a:lstStyle>
          <a:p>
            <a:endParaRPr/>
          </a:p>
        </p:txBody>
      </p:sp>
      <p:sp>
        <p:nvSpPr>
          <p:cNvPr id="3" name="Holder 3"/>
          <p:cNvSpPr>
            <a:spLocks noGrp="1"/>
          </p:cNvSpPr>
          <p:nvPr>
            <p:ph type="body" idx="1"/>
          </p:nvPr>
        </p:nvSpPr>
        <p:spPr>
          <a:xfrm>
            <a:off x="5915025" y="2081529"/>
            <a:ext cx="4959984" cy="3644900"/>
          </a:xfrm>
          <a:prstGeom prst="rect">
            <a:avLst/>
          </a:prstGeom>
        </p:spPr>
        <p:txBody>
          <a:bodyPr wrap="square" lIns="0" tIns="0" rIns="0" bIns="0">
            <a:spAutoFit/>
          </a:bodyPr>
          <a:lstStyle>
            <a:lvl1pPr>
              <a:defRPr sz="1800" b="0" i="0">
                <a:solidFill>
                  <a:srgbClr val="252525"/>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2.png"/><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image" Target="../media/image35.png"/><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7.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332812" y="885710"/>
            <a:ext cx="9311638" cy="4351401"/>
            <a:chOff x="2880360" y="938911"/>
            <a:chExt cx="9311638" cy="4351401"/>
          </a:xfrm>
        </p:grpSpPr>
        <p:sp>
          <p:nvSpPr>
            <p:cNvPr id="3" name="object 3"/>
            <p:cNvSpPr/>
            <p:nvPr/>
          </p:nvSpPr>
          <p:spPr>
            <a:xfrm>
              <a:off x="2880360" y="3649090"/>
              <a:ext cx="6431280" cy="0"/>
            </a:xfrm>
            <a:custGeom>
              <a:avLst/>
              <a:gdLst/>
              <a:ahLst/>
              <a:cxnLst/>
              <a:rect l="l" t="t" r="r" b="b"/>
              <a:pathLst>
                <a:path w="6431280">
                  <a:moveTo>
                    <a:pt x="0" y="0"/>
                  </a:moveTo>
                  <a:lnTo>
                    <a:pt x="6431280" y="0"/>
                  </a:lnTo>
                </a:path>
              </a:pathLst>
            </a:custGeom>
            <a:ln w="6350">
              <a:solidFill>
                <a:srgbClr val="6C4DEA"/>
              </a:solidFill>
            </a:ln>
          </p:spPr>
          <p:txBody>
            <a:bodyPr wrap="square" lIns="0" tIns="0" rIns="0" bIns="0" rtlCol="0"/>
            <a:lstStyle/>
            <a:p>
              <a:endParaRPr/>
            </a:p>
          </p:txBody>
        </p:sp>
        <p:pic>
          <p:nvPicPr>
            <p:cNvPr id="4" name="object 4"/>
            <p:cNvPicPr/>
            <p:nvPr/>
          </p:nvPicPr>
          <p:blipFill>
            <a:blip r:embed="rId2" cstate="print"/>
            <a:stretch>
              <a:fillRect/>
            </a:stretch>
          </p:blipFill>
          <p:spPr>
            <a:xfrm>
              <a:off x="7397114" y="938911"/>
              <a:ext cx="4794884" cy="4351401"/>
            </a:xfrm>
            <a:prstGeom prst="rect">
              <a:avLst/>
            </a:prstGeom>
          </p:spPr>
        </p:pic>
        <p:pic>
          <p:nvPicPr>
            <p:cNvPr id="9" name="object 9"/>
            <p:cNvPicPr/>
            <p:nvPr/>
          </p:nvPicPr>
          <p:blipFill>
            <a:blip r:embed="rId3" cstate="print"/>
            <a:stretch>
              <a:fillRect/>
            </a:stretch>
          </p:blipFill>
          <p:spPr>
            <a:xfrm>
              <a:off x="5042916" y="4203191"/>
              <a:ext cx="527303" cy="156972"/>
            </a:xfrm>
            <a:prstGeom prst="rect">
              <a:avLst/>
            </a:prstGeom>
          </p:spPr>
        </p:pic>
      </p:grpSp>
      <p:sp>
        <p:nvSpPr>
          <p:cNvPr id="11" name="object 11"/>
          <p:cNvSpPr txBox="1"/>
          <p:nvPr/>
        </p:nvSpPr>
        <p:spPr>
          <a:xfrm>
            <a:off x="4567173" y="5566054"/>
            <a:ext cx="305752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a:t>
            </a:r>
            <a:r>
              <a:rPr sz="1400" spc="5" dirty="0">
                <a:latin typeface="Arial MT"/>
                <a:cs typeface="Arial MT"/>
              </a:rPr>
              <a:t> </a:t>
            </a:r>
            <a:r>
              <a:rPr sz="1400" dirty="0">
                <a:latin typeface="Arial MT"/>
                <a:cs typeface="Arial MT"/>
              </a:rPr>
              <a:t>IBM</a:t>
            </a:r>
            <a:r>
              <a:rPr sz="1400" spc="-15" dirty="0">
                <a:latin typeface="Arial MT"/>
                <a:cs typeface="Arial MT"/>
              </a:rPr>
              <a:t> </a:t>
            </a:r>
            <a:r>
              <a:rPr sz="1400" spc="-10" dirty="0">
                <a:latin typeface="Arial MT"/>
                <a:cs typeface="Arial MT"/>
              </a:rPr>
              <a:t>Corporation.</a:t>
            </a:r>
            <a:r>
              <a:rPr sz="1400" spc="-110" dirty="0">
                <a:latin typeface="Arial MT"/>
                <a:cs typeface="Arial MT"/>
              </a:rPr>
              <a:t> </a:t>
            </a:r>
            <a:r>
              <a:rPr sz="1400" dirty="0">
                <a:latin typeface="Arial MT"/>
                <a:cs typeface="Arial MT"/>
              </a:rPr>
              <a:t>All</a:t>
            </a:r>
            <a:r>
              <a:rPr sz="1400" spc="5" dirty="0">
                <a:latin typeface="Arial MT"/>
                <a:cs typeface="Arial MT"/>
              </a:rPr>
              <a:t> </a:t>
            </a:r>
            <a:r>
              <a:rPr sz="1400" dirty="0">
                <a:latin typeface="Arial MT"/>
                <a:cs typeface="Arial MT"/>
              </a:rPr>
              <a:t>rights</a:t>
            </a:r>
            <a:r>
              <a:rPr sz="1400" spc="-25" dirty="0">
                <a:latin typeface="Arial MT"/>
                <a:cs typeface="Arial MT"/>
              </a:rPr>
              <a:t> </a:t>
            </a:r>
            <a:r>
              <a:rPr sz="1400" spc="-10" dirty="0">
                <a:latin typeface="Arial MT"/>
                <a:cs typeface="Arial MT"/>
              </a:rPr>
              <a:t>reserved.</a:t>
            </a:r>
            <a:endParaRPr sz="1400">
              <a:latin typeface="Arial MT"/>
              <a:cs typeface="Arial MT"/>
            </a:endParaRPr>
          </a:p>
        </p:txBody>
      </p:sp>
      <p:pic>
        <p:nvPicPr>
          <p:cNvPr id="12" name="object 12"/>
          <p:cNvPicPr/>
          <p:nvPr/>
        </p:nvPicPr>
        <p:blipFill>
          <a:blip r:embed="rId4" cstate="print"/>
          <a:stretch>
            <a:fillRect/>
          </a:stretch>
        </p:blipFill>
        <p:spPr>
          <a:xfrm>
            <a:off x="11337925" y="6372555"/>
            <a:ext cx="613054" cy="243052"/>
          </a:xfrm>
          <a:prstGeom prst="rect">
            <a:avLst/>
          </a:prstGeom>
        </p:spPr>
      </p:pic>
      <p:pic>
        <p:nvPicPr>
          <p:cNvPr id="13" name="object 13"/>
          <p:cNvPicPr/>
          <p:nvPr/>
        </p:nvPicPr>
        <p:blipFill>
          <a:blip r:embed="rId5" cstate="print"/>
          <a:stretch>
            <a:fillRect/>
          </a:stretch>
        </p:blipFill>
        <p:spPr>
          <a:xfrm>
            <a:off x="241058" y="6372097"/>
            <a:ext cx="1630680" cy="247650"/>
          </a:xfrm>
          <a:prstGeom prst="rect">
            <a:avLst/>
          </a:prstGeom>
        </p:spPr>
      </p:pic>
      <p:sp>
        <p:nvSpPr>
          <p:cNvPr id="18" name="object 18"/>
          <p:cNvSpPr txBox="1">
            <a:spLocks noGrp="1"/>
          </p:cNvSpPr>
          <p:nvPr>
            <p:ph type="title"/>
          </p:nvPr>
        </p:nvSpPr>
        <p:spPr>
          <a:xfrm>
            <a:off x="2402710" y="896261"/>
            <a:ext cx="4328924" cy="2010615"/>
          </a:xfrm>
          <a:prstGeom prst="rect">
            <a:avLst/>
          </a:prstGeom>
        </p:spPr>
        <p:txBody>
          <a:bodyPr vert="horz" wrap="square" lIns="0" tIns="94615" rIns="0" bIns="0" rtlCol="0">
            <a:spAutoFit/>
          </a:bodyPr>
          <a:lstStyle/>
          <a:p>
            <a:pPr marL="423545" marR="5080" indent="-411480" algn="ctr">
              <a:lnSpc>
                <a:spcPts val="5190"/>
              </a:lnSpc>
              <a:spcBef>
                <a:spcPts val="745"/>
              </a:spcBef>
            </a:pPr>
            <a:r>
              <a:rPr lang="en-US" sz="2400" dirty="0" smtClean="0">
                <a:latin typeface="Calibri"/>
                <a:cs typeface="Calibri"/>
              </a:rPr>
              <a:t>Data Analyst Capstone Project:</a:t>
            </a:r>
            <a:br>
              <a:rPr lang="en-US" sz="2400" dirty="0" smtClean="0">
                <a:latin typeface="Calibri"/>
                <a:cs typeface="Calibri"/>
              </a:rPr>
            </a:br>
            <a:r>
              <a:rPr lang="en-US" sz="2400" dirty="0" smtClean="0">
                <a:latin typeface="Calibri"/>
                <a:cs typeface="Calibri"/>
              </a:rPr>
              <a:t>Stack Overflow Developer </a:t>
            </a:r>
            <a:r>
              <a:rPr lang="en-US" sz="2400" dirty="0" smtClean="0"/>
              <a:t>Survey Data</a:t>
            </a:r>
            <a:endParaRPr sz="2400" dirty="0">
              <a:latin typeface="Calibri"/>
              <a:cs typeface="Calibri"/>
            </a:endParaRPr>
          </a:p>
        </p:txBody>
      </p:sp>
      <p:sp>
        <p:nvSpPr>
          <p:cNvPr id="19" name="object 19"/>
          <p:cNvSpPr txBox="1"/>
          <p:nvPr/>
        </p:nvSpPr>
        <p:spPr>
          <a:xfrm>
            <a:off x="2531625" y="4773632"/>
            <a:ext cx="3927485" cy="969496"/>
          </a:xfrm>
          <a:prstGeom prst="rect">
            <a:avLst/>
          </a:prstGeom>
        </p:spPr>
        <p:txBody>
          <a:bodyPr vert="horz" wrap="square" lIns="0" tIns="12700" rIns="0" bIns="0" rtlCol="0">
            <a:spAutoFit/>
          </a:bodyPr>
          <a:lstStyle/>
          <a:p>
            <a:pPr marL="12700" algn="ctr">
              <a:lnSpc>
                <a:spcPct val="100000"/>
              </a:lnSpc>
              <a:spcBef>
                <a:spcPts val="100"/>
              </a:spcBef>
            </a:pPr>
            <a:r>
              <a:rPr lang="en-US" sz="2400" spc="-85" dirty="0" smtClean="0">
                <a:solidFill>
                  <a:srgbClr val="252525"/>
                </a:solidFill>
                <a:latin typeface="Calibri"/>
                <a:cs typeface="Calibri"/>
              </a:rPr>
              <a:t>March 23, 2026</a:t>
            </a:r>
            <a:endParaRPr sz="2400" dirty="0">
              <a:latin typeface="Calibri"/>
              <a:cs typeface="Calibri"/>
            </a:endParaRPr>
          </a:p>
          <a:p>
            <a:pPr>
              <a:lnSpc>
                <a:spcPct val="100000"/>
              </a:lnSpc>
              <a:spcBef>
                <a:spcPts val="1675"/>
              </a:spcBef>
            </a:pPr>
            <a:endParaRPr sz="2400" dirty="0">
              <a:latin typeface="Calibri"/>
              <a:cs typeface="Calibri"/>
            </a:endParaRPr>
          </a:p>
        </p:txBody>
      </p:sp>
      <p:sp>
        <p:nvSpPr>
          <p:cNvPr id="20" name="object 19"/>
          <p:cNvSpPr txBox="1"/>
          <p:nvPr/>
        </p:nvSpPr>
        <p:spPr>
          <a:xfrm>
            <a:off x="2531624" y="3867029"/>
            <a:ext cx="3927485" cy="1031051"/>
          </a:xfrm>
          <a:prstGeom prst="rect">
            <a:avLst/>
          </a:prstGeom>
        </p:spPr>
        <p:txBody>
          <a:bodyPr vert="horz" wrap="square" lIns="0" tIns="12700" rIns="0" bIns="0" rtlCol="0">
            <a:spAutoFit/>
          </a:bodyPr>
          <a:lstStyle/>
          <a:p>
            <a:pPr marL="12700" algn="ctr">
              <a:lnSpc>
                <a:spcPct val="100000"/>
              </a:lnSpc>
              <a:spcBef>
                <a:spcPts val="100"/>
              </a:spcBef>
            </a:pPr>
            <a:r>
              <a:rPr lang="en-US" sz="2800" b="1" spc="-85" dirty="0" smtClean="0">
                <a:solidFill>
                  <a:srgbClr val="252525"/>
                </a:solidFill>
                <a:latin typeface="Calibri"/>
                <a:cs typeface="Calibri"/>
              </a:rPr>
              <a:t>Vijay Asia</a:t>
            </a:r>
            <a:endParaRPr sz="2800" b="1" dirty="0">
              <a:latin typeface="Calibri"/>
              <a:cs typeface="Calibri"/>
            </a:endParaRPr>
          </a:p>
          <a:p>
            <a:pPr>
              <a:lnSpc>
                <a:spcPct val="100000"/>
              </a:lnSpc>
              <a:spcBef>
                <a:spcPts val="1675"/>
              </a:spcBef>
            </a:pP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52025" y="1553316"/>
            <a:ext cx="4821548" cy="4818781"/>
          </a:xfrm>
          <a:prstGeom prst="rect">
            <a:avLst/>
          </a:prstGeom>
        </p:spPr>
      </p:pic>
      <p:pic>
        <p:nvPicPr>
          <p:cNvPr id="3" name="object 3"/>
          <p:cNvPicPr/>
          <p:nvPr/>
        </p:nvPicPr>
        <p:blipFill>
          <a:blip r:embed="rId3" cstate="print"/>
          <a:stretch>
            <a:fillRect/>
          </a:stretch>
        </p:blipFill>
        <p:spPr>
          <a:xfrm>
            <a:off x="11337925" y="6372555"/>
            <a:ext cx="613054" cy="243052"/>
          </a:xfrm>
          <a:prstGeom prst="rect">
            <a:avLst/>
          </a:prstGeom>
        </p:spPr>
      </p:pic>
      <p:pic>
        <p:nvPicPr>
          <p:cNvPr id="4" name="object 4"/>
          <p:cNvPicPr/>
          <p:nvPr/>
        </p:nvPicPr>
        <p:blipFill>
          <a:blip r:embed="rId4" cstate="print"/>
          <a:stretch>
            <a:fillRect/>
          </a:stretch>
        </p:blipFill>
        <p:spPr>
          <a:xfrm>
            <a:off x="241058" y="6372097"/>
            <a:ext cx="1630680" cy="247650"/>
          </a:xfrm>
          <a:prstGeom prst="rect">
            <a:avLst/>
          </a:prstGeom>
        </p:spPr>
      </p:pic>
      <p:sp>
        <p:nvSpPr>
          <p:cNvPr id="5" name="object 5"/>
          <p:cNvSpPr/>
          <p:nvPr/>
        </p:nvSpPr>
        <p:spPr>
          <a:xfrm>
            <a:off x="838200" y="1296669"/>
            <a:ext cx="10515600" cy="635"/>
          </a:xfrm>
          <a:custGeom>
            <a:avLst/>
            <a:gdLst/>
            <a:ahLst/>
            <a:cxnLst/>
            <a:rect l="l" t="t" r="r" b="b"/>
            <a:pathLst>
              <a:path w="10515600" h="634">
                <a:moveTo>
                  <a:pt x="0" y="0"/>
                </a:moveTo>
                <a:lnTo>
                  <a:pt x="10515600" y="380"/>
                </a:lnTo>
              </a:path>
            </a:pathLst>
          </a:custGeom>
          <a:ln w="6350">
            <a:solidFill>
              <a:srgbClr val="6C4DEA"/>
            </a:solidFill>
          </a:ln>
        </p:spPr>
        <p:txBody>
          <a:bodyPr wrap="square" lIns="0" tIns="0" rIns="0" bIns="0" rtlCol="0"/>
          <a:lstStyle/>
          <a:p>
            <a:endParaRPr/>
          </a:p>
        </p:txBody>
      </p:sp>
      <p:sp>
        <p:nvSpPr>
          <p:cNvPr id="6" name="object 6"/>
          <p:cNvSpPr txBox="1">
            <a:spLocks noGrp="1"/>
          </p:cNvSpPr>
          <p:nvPr>
            <p:ph type="title"/>
          </p:nvPr>
        </p:nvSpPr>
        <p:spPr>
          <a:xfrm>
            <a:off x="5109108" y="801550"/>
            <a:ext cx="1973784" cy="504625"/>
          </a:xfrm>
          <a:prstGeom prst="rect">
            <a:avLst/>
          </a:prstGeom>
        </p:spPr>
        <p:txBody>
          <a:bodyPr vert="horz" wrap="square" lIns="0" tIns="12065" rIns="0" bIns="0" rtlCol="0">
            <a:spAutoFit/>
          </a:bodyPr>
          <a:lstStyle/>
          <a:p>
            <a:pPr marL="255904">
              <a:lnSpc>
                <a:spcPct val="100000"/>
              </a:lnSpc>
              <a:spcBef>
                <a:spcPts val="95"/>
              </a:spcBef>
            </a:pPr>
            <a:r>
              <a:rPr sz="3200" spc="-10" dirty="0"/>
              <a:t>OUTLINE</a:t>
            </a:r>
          </a:p>
        </p:txBody>
      </p:sp>
      <p:sp>
        <p:nvSpPr>
          <p:cNvPr id="8" name="object 8"/>
          <p:cNvSpPr txBox="1"/>
          <p:nvPr/>
        </p:nvSpPr>
        <p:spPr>
          <a:xfrm>
            <a:off x="1056398" y="1549506"/>
            <a:ext cx="4267199" cy="4546116"/>
          </a:xfrm>
          <a:prstGeom prst="rect">
            <a:avLst/>
          </a:prstGeom>
        </p:spPr>
        <p:txBody>
          <a:bodyPr vert="horz" wrap="square" lIns="0" tIns="113030" rIns="0" bIns="0" rtlCol="0">
            <a:spAutoFit/>
          </a:bodyPr>
          <a:lstStyle/>
          <a:p>
            <a:r>
              <a:rPr lang="en-US" b="1" dirty="0" smtClean="0"/>
              <a:t>Executive Summary</a:t>
            </a:r>
          </a:p>
          <a:p>
            <a:endParaRPr lang="en-US" b="1" dirty="0" smtClean="0"/>
          </a:p>
          <a:p>
            <a:r>
              <a:rPr lang="en-US" b="1" dirty="0" smtClean="0"/>
              <a:t>Introduction</a:t>
            </a:r>
          </a:p>
          <a:p>
            <a:endParaRPr lang="en-US" b="1" dirty="0" smtClean="0"/>
          </a:p>
          <a:p>
            <a:r>
              <a:rPr lang="en-US" b="1" dirty="0" smtClean="0"/>
              <a:t>Methodology</a:t>
            </a:r>
          </a:p>
          <a:p>
            <a:endParaRPr lang="en-US" b="1" dirty="0" smtClean="0"/>
          </a:p>
          <a:p>
            <a:r>
              <a:rPr lang="en-US" b="1" dirty="0" smtClean="0"/>
              <a:t>Results</a:t>
            </a:r>
          </a:p>
          <a:p>
            <a:pPr marL="285750" indent="-285750">
              <a:buFont typeface="Arial" panose="020B0604020202020204" pitchFamily="34" charset="0"/>
              <a:buChar char="•"/>
            </a:pPr>
            <a:r>
              <a:rPr lang="en-US" dirty="0" smtClean="0"/>
              <a:t>Visualization Charts </a:t>
            </a:r>
          </a:p>
          <a:p>
            <a:pPr marL="285750" indent="-285750">
              <a:buFont typeface="Arial" panose="020B0604020202020204" pitchFamily="34" charset="0"/>
              <a:buChar char="•"/>
            </a:pPr>
            <a:r>
              <a:rPr lang="en-US" dirty="0" smtClean="0"/>
              <a:t>Dashboard Overview </a:t>
            </a:r>
          </a:p>
          <a:p>
            <a:pPr marL="285750" indent="-285750">
              <a:buFont typeface="Arial" panose="020B0604020202020204" pitchFamily="34" charset="0"/>
              <a:buChar char="•"/>
            </a:pPr>
            <a:endParaRPr lang="en-US" dirty="0" smtClean="0"/>
          </a:p>
          <a:p>
            <a:r>
              <a:rPr lang="en-US" b="1" dirty="0" smtClean="0"/>
              <a:t>Discussion</a:t>
            </a:r>
          </a:p>
          <a:p>
            <a:pPr marL="285750" indent="-285750">
              <a:buFont typeface="Arial" panose="020B0604020202020204" pitchFamily="34" charset="0"/>
              <a:buChar char="•"/>
            </a:pPr>
            <a:r>
              <a:rPr lang="en-US" dirty="0" smtClean="0"/>
              <a:t>Key Findings and Implications</a:t>
            </a:r>
          </a:p>
          <a:p>
            <a:r>
              <a:rPr lang="en-US" dirty="0" smtClean="0"/>
              <a:t> </a:t>
            </a:r>
          </a:p>
          <a:p>
            <a:r>
              <a:rPr lang="en-US" b="1" dirty="0" smtClean="0"/>
              <a:t>Conclusion</a:t>
            </a:r>
          </a:p>
          <a:p>
            <a:endParaRPr lang="en-US" b="1" dirty="0" smtClean="0"/>
          </a:p>
          <a:p>
            <a:r>
              <a:rPr lang="en-US" b="1" dirty="0" smtClean="0"/>
              <a:t>Appendix</a:t>
            </a:r>
            <a:endParaRPr 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0" y="838200"/>
            <a:ext cx="4259784" cy="546175"/>
          </a:xfrm>
          <a:prstGeom prst="rect">
            <a:avLst/>
          </a:prstGeom>
        </p:spPr>
        <p:txBody>
          <a:bodyPr vert="horz" wrap="square" lIns="0" tIns="53213" rIns="0" bIns="0" rtlCol="0">
            <a:spAutoFit/>
          </a:bodyPr>
          <a:lstStyle/>
          <a:p>
            <a:pPr marL="208279">
              <a:lnSpc>
                <a:spcPct val="100000"/>
              </a:lnSpc>
              <a:spcBef>
                <a:spcPts val="95"/>
              </a:spcBef>
            </a:pPr>
            <a:r>
              <a:rPr sz="3200" dirty="0"/>
              <a:t>EXECUTIVE</a:t>
            </a:r>
            <a:r>
              <a:rPr sz="3200" spc="-140" dirty="0"/>
              <a:t> </a:t>
            </a:r>
            <a:r>
              <a:rPr sz="3200" spc="-10" dirty="0"/>
              <a:t>SUMMARY</a:t>
            </a:r>
          </a:p>
        </p:txBody>
      </p:sp>
      <p:sp>
        <p:nvSpPr>
          <p:cNvPr id="3" name="object 3"/>
          <p:cNvSpPr txBox="1"/>
          <p:nvPr/>
        </p:nvSpPr>
        <p:spPr>
          <a:xfrm>
            <a:off x="990600" y="1524000"/>
            <a:ext cx="6281928" cy="4546116"/>
          </a:xfrm>
          <a:prstGeom prst="rect">
            <a:avLst/>
          </a:prstGeom>
        </p:spPr>
        <p:txBody>
          <a:bodyPr vert="horz" wrap="square" lIns="0" tIns="113030" rIns="0" bIns="0" rtlCol="0">
            <a:spAutoFit/>
          </a:bodyPr>
          <a:lstStyle/>
          <a:p>
            <a:r>
              <a:rPr lang="en-US" sz="1800" b="1" dirty="0"/>
              <a:t>Framing Data and Objectives</a:t>
            </a:r>
          </a:p>
          <a:p>
            <a:pPr marL="285750" indent="-285750">
              <a:buFont typeface="Arial" panose="020B0604020202020204" pitchFamily="34" charset="0"/>
              <a:buChar char="•"/>
            </a:pPr>
            <a:r>
              <a:rPr lang="en-US" sz="1800" dirty="0" smtClean="0"/>
              <a:t>Defines </a:t>
            </a:r>
            <a:r>
              <a:rPr lang="en-US" sz="1800" dirty="0"/>
              <a:t>the dataset scope and key analysis goals.</a:t>
            </a:r>
          </a:p>
          <a:p>
            <a:endParaRPr lang="en-US" sz="1800" dirty="0"/>
          </a:p>
          <a:p>
            <a:r>
              <a:rPr lang="en-US" sz="1800" b="1" dirty="0"/>
              <a:t>Methodology Overview</a:t>
            </a:r>
          </a:p>
          <a:p>
            <a:pPr marL="285750" indent="-285750">
              <a:buFont typeface="Arial" panose="020B0604020202020204" pitchFamily="34" charset="0"/>
              <a:buChar char="•"/>
            </a:pPr>
            <a:r>
              <a:rPr lang="en-US" sz="1800" dirty="0"/>
              <a:t>Data collection methods</a:t>
            </a:r>
          </a:p>
          <a:p>
            <a:pPr marL="285750" indent="-285750">
              <a:buFont typeface="Arial" panose="020B0604020202020204" pitchFamily="34" charset="0"/>
              <a:buChar char="•"/>
            </a:pPr>
            <a:r>
              <a:rPr lang="en-US" sz="1800" dirty="0"/>
              <a:t>Analytical approach</a:t>
            </a:r>
          </a:p>
          <a:p>
            <a:pPr marL="285750" indent="-285750">
              <a:buFont typeface="Arial" panose="020B0604020202020204" pitchFamily="34" charset="0"/>
              <a:buChar char="•"/>
            </a:pPr>
            <a:r>
              <a:rPr lang="en-US" sz="1800" dirty="0"/>
              <a:t>Visualization </a:t>
            </a:r>
            <a:r>
              <a:rPr lang="en-US" sz="1800" dirty="0" smtClean="0"/>
              <a:t>techniques</a:t>
            </a:r>
          </a:p>
          <a:p>
            <a:pPr marL="285750" indent="-285750">
              <a:buFont typeface="Arial" panose="020B0604020202020204" pitchFamily="34" charset="0"/>
              <a:buChar char="•"/>
            </a:pPr>
            <a:endParaRPr lang="en-US" sz="1800" dirty="0"/>
          </a:p>
          <a:p>
            <a:r>
              <a:rPr lang="en-US" sz="1800" b="1" dirty="0"/>
              <a:t>Results Presentation</a:t>
            </a:r>
          </a:p>
          <a:p>
            <a:r>
              <a:rPr lang="en-US" sz="1800" dirty="0" smtClean="0"/>
              <a:t>Displays </a:t>
            </a:r>
            <a:r>
              <a:rPr lang="en-US" sz="1800" dirty="0"/>
              <a:t>findings using charts and trends.</a:t>
            </a:r>
          </a:p>
          <a:p>
            <a:endParaRPr lang="en-US" sz="1800" dirty="0"/>
          </a:p>
          <a:p>
            <a:r>
              <a:rPr lang="en-US" sz="1800" b="1" dirty="0"/>
              <a:t>Discussion of Findings</a:t>
            </a:r>
          </a:p>
          <a:p>
            <a:pPr marL="285750" indent="-285750">
              <a:buFont typeface="Arial" panose="020B0604020202020204" pitchFamily="34" charset="0"/>
              <a:buChar char="•"/>
            </a:pPr>
            <a:r>
              <a:rPr lang="en-US" sz="1800" dirty="0" smtClean="0"/>
              <a:t>Interprets </a:t>
            </a:r>
            <a:r>
              <a:rPr lang="en-US" sz="1800" dirty="0"/>
              <a:t>key results and their implications.</a:t>
            </a:r>
          </a:p>
          <a:p>
            <a:endParaRPr lang="en-US" sz="1800" dirty="0"/>
          </a:p>
          <a:p>
            <a:r>
              <a:rPr lang="en-US" sz="1800" b="1" dirty="0"/>
              <a:t>Conclusion</a:t>
            </a:r>
          </a:p>
          <a:p>
            <a:pPr marL="285750" indent="-285750">
              <a:buFont typeface="Arial" panose="020B0604020202020204" pitchFamily="34" charset="0"/>
              <a:buChar char="•"/>
            </a:pPr>
            <a:r>
              <a:rPr lang="en-US" sz="1800" dirty="0" smtClean="0"/>
              <a:t>Summarizes </a:t>
            </a:r>
            <a:r>
              <a:rPr lang="en-US" sz="1800" dirty="0"/>
              <a:t>insights and overall outcomes.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75301" y="838200"/>
            <a:ext cx="3192984" cy="606833"/>
          </a:xfrm>
          <a:prstGeom prst="rect">
            <a:avLst/>
          </a:prstGeom>
        </p:spPr>
        <p:txBody>
          <a:bodyPr vert="horz" wrap="square" lIns="0" tIns="113284" rIns="0" bIns="0" rtlCol="0">
            <a:spAutoFit/>
          </a:bodyPr>
          <a:lstStyle/>
          <a:p>
            <a:pPr marL="244475">
              <a:lnSpc>
                <a:spcPct val="100000"/>
              </a:lnSpc>
              <a:spcBef>
                <a:spcPts val="95"/>
              </a:spcBef>
            </a:pPr>
            <a:r>
              <a:rPr sz="3200" spc="-10" dirty="0"/>
              <a:t>INTRODUCTION</a:t>
            </a:r>
          </a:p>
        </p:txBody>
      </p:sp>
      <p:sp>
        <p:nvSpPr>
          <p:cNvPr id="4" name="object 4"/>
          <p:cNvSpPr txBox="1"/>
          <p:nvPr/>
        </p:nvSpPr>
        <p:spPr>
          <a:xfrm>
            <a:off x="914400" y="2514600"/>
            <a:ext cx="10114787" cy="2613536"/>
          </a:xfrm>
          <a:prstGeom prst="rect">
            <a:avLst/>
          </a:prstGeom>
        </p:spPr>
        <p:txBody>
          <a:bodyPr vert="horz" wrap="square" lIns="0" tIns="12700" rIns="0" bIns="0" rtlCol="0">
            <a:spAutoFit/>
          </a:bodyPr>
          <a:lstStyle/>
          <a:p>
            <a:pPr marL="241300" marR="5080" indent="-228600">
              <a:lnSpc>
                <a:spcPct val="100000"/>
              </a:lnSpc>
              <a:spcBef>
                <a:spcPts val="100"/>
              </a:spcBef>
              <a:buFont typeface="Arial MT"/>
              <a:buChar char="•"/>
              <a:tabLst>
                <a:tab pos="241300" algn="l"/>
              </a:tabLst>
            </a:pPr>
            <a:r>
              <a:rPr sz="1800" spc="-45" dirty="0">
                <a:solidFill>
                  <a:srgbClr val="252525"/>
                </a:solidFill>
                <a:latin typeface="Calibri"/>
                <a:cs typeface="Calibri"/>
              </a:rPr>
              <a:t>The </a:t>
            </a:r>
            <a:r>
              <a:rPr sz="1800" spc="-60" dirty="0">
                <a:solidFill>
                  <a:srgbClr val="252525"/>
                </a:solidFill>
                <a:latin typeface="Calibri"/>
                <a:cs typeface="Calibri"/>
              </a:rPr>
              <a:t>Stack</a:t>
            </a:r>
            <a:r>
              <a:rPr sz="1800" spc="-55" dirty="0">
                <a:solidFill>
                  <a:srgbClr val="252525"/>
                </a:solidFill>
                <a:latin typeface="Calibri"/>
                <a:cs typeface="Calibri"/>
              </a:rPr>
              <a:t> </a:t>
            </a:r>
            <a:r>
              <a:rPr sz="1800" spc="-60" dirty="0">
                <a:solidFill>
                  <a:srgbClr val="252525"/>
                </a:solidFill>
                <a:latin typeface="Calibri"/>
                <a:cs typeface="Calibri"/>
              </a:rPr>
              <a:t>Overflow Developer</a:t>
            </a:r>
            <a:r>
              <a:rPr sz="1800" spc="-40" dirty="0">
                <a:solidFill>
                  <a:srgbClr val="252525"/>
                </a:solidFill>
                <a:latin typeface="Calibri"/>
                <a:cs typeface="Calibri"/>
              </a:rPr>
              <a:t> </a:t>
            </a:r>
            <a:r>
              <a:rPr sz="1800" spc="-55" dirty="0">
                <a:solidFill>
                  <a:srgbClr val="252525"/>
                </a:solidFill>
                <a:latin typeface="Calibri"/>
                <a:cs typeface="Calibri"/>
              </a:rPr>
              <a:t>Survey </a:t>
            </a:r>
            <a:r>
              <a:rPr sz="1800" spc="-65" dirty="0">
                <a:solidFill>
                  <a:srgbClr val="252525"/>
                </a:solidFill>
                <a:latin typeface="Calibri"/>
                <a:cs typeface="Calibri"/>
              </a:rPr>
              <a:t>captures</a:t>
            </a:r>
            <a:r>
              <a:rPr sz="1800" spc="-55" dirty="0">
                <a:solidFill>
                  <a:srgbClr val="252525"/>
                </a:solidFill>
                <a:latin typeface="Calibri"/>
                <a:cs typeface="Calibri"/>
              </a:rPr>
              <a:t> insights</a:t>
            </a:r>
            <a:r>
              <a:rPr sz="1800" spc="-60" dirty="0">
                <a:solidFill>
                  <a:srgbClr val="252525"/>
                </a:solidFill>
                <a:latin typeface="Calibri"/>
                <a:cs typeface="Calibri"/>
              </a:rPr>
              <a:t> </a:t>
            </a:r>
            <a:r>
              <a:rPr sz="1800" spc="-20" dirty="0">
                <a:solidFill>
                  <a:srgbClr val="252525"/>
                </a:solidFill>
                <a:latin typeface="Calibri"/>
                <a:cs typeface="Calibri"/>
              </a:rPr>
              <a:t>from </a:t>
            </a:r>
            <a:r>
              <a:rPr sz="1800" spc="-65" dirty="0">
                <a:solidFill>
                  <a:srgbClr val="252525"/>
                </a:solidFill>
                <a:latin typeface="Calibri"/>
                <a:cs typeface="Calibri"/>
              </a:rPr>
              <a:t>developers</a:t>
            </a:r>
            <a:r>
              <a:rPr sz="1800" spc="-70" dirty="0">
                <a:solidFill>
                  <a:srgbClr val="252525"/>
                </a:solidFill>
                <a:latin typeface="Calibri"/>
                <a:cs typeface="Calibri"/>
              </a:rPr>
              <a:t> </a:t>
            </a:r>
            <a:r>
              <a:rPr sz="1800" spc="-60" dirty="0">
                <a:solidFill>
                  <a:srgbClr val="252525"/>
                </a:solidFill>
                <a:latin typeface="Calibri"/>
                <a:cs typeface="Calibri"/>
              </a:rPr>
              <a:t>worldwide </a:t>
            </a:r>
            <a:r>
              <a:rPr sz="1800" spc="-45" dirty="0">
                <a:solidFill>
                  <a:srgbClr val="252525"/>
                </a:solidFill>
                <a:latin typeface="Calibri"/>
                <a:cs typeface="Calibri"/>
              </a:rPr>
              <a:t>and</a:t>
            </a:r>
            <a:r>
              <a:rPr sz="1800" spc="-55" dirty="0">
                <a:solidFill>
                  <a:srgbClr val="252525"/>
                </a:solidFill>
                <a:latin typeface="Calibri"/>
                <a:cs typeface="Calibri"/>
              </a:rPr>
              <a:t> </a:t>
            </a:r>
            <a:r>
              <a:rPr sz="1800" spc="-60" dirty="0">
                <a:solidFill>
                  <a:srgbClr val="252525"/>
                </a:solidFill>
                <a:latin typeface="Calibri"/>
                <a:cs typeface="Calibri"/>
              </a:rPr>
              <a:t>provides</a:t>
            </a:r>
            <a:r>
              <a:rPr sz="1800" spc="-65" dirty="0">
                <a:solidFill>
                  <a:srgbClr val="252525"/>
                </a:solidFill>
                <a:latin typeface="Calibri"/>
                <a:cs typeface="Calibri"/>
              </a:rPr>
              <a:t> </a:t>
            </a:r>
            <a:r>
              <a:rPr sz="1800" spc="-10" dirty="0">
                <a:solidFill>
                  <a:srgbClr val="252525"/>
                </a:solidFill>
                <a:latin typeface="Calibri"/>
                <a:cs typeface="Calibri"/>
              </a:rPr>
              <a:t>a</a:t>
            </a:r>
            <a:r>
              <a:rPr sz="1800" spc="-55" dirty="0">
                <a:solidFill>
                  <a:srgbClr val="252525"/>
                </a:solidFill>
                <a:latin typeface="Calibri"/>
                <a:cs typeface="Calibri"/>
              </a:rPr>
              <a:t> </a:t>
            </a:r>
            <a:r>
              <a:rPr sz="1800" spc="-60" dirty="0">
                <a:solidFill>
                  <a:srgbClr val="252525"/>
                </a:solidFill>
                <a:latin typeface="Calibri"/>
                <a:cs typeface="Calibri"/>
              </a:rPr>
              <a:t>comprehensive</a:t>
            </a:r>
            <a:r>
              <a:rPr sz="1800" spc="-80" dirty="0">
                <a:solidFill>
                  <a:srgbClr val="252525"/>
                </a:solidFill>
                <a:latin typeface="Calibri"/>
                <a:cs typeface="Calibri"/>
              </a:rPr>
              <a:t> </a:t>
            </a:r>
            <a:r>
              <a:rPr sz="1800" spc="-50" dirty="0">
                <a:solidFill>
                  <a:srgbClr val="252525"/>
                </a:solidFill>
                <a:latin typeface="Calibri"/>
                <a:cs typeface="Calibri"/>
              </a:rPr>
              <a:t>view</a:t>
            </a:r>
            <a:r>
              <a:rPr sz="1800" spc="-60" dirty="0">
                <a:solidFill>
                  <a:srgbClr val="252525"/>
                </a:solidFill>
                <a:latin typeface="Calibri"/>
                <a:cs typeface="Calibri"/>
              </a:rPr>
              <a:t> </a:t>
            </a:r>
            <a:r>
              <a:rPr sz="1800" spc="-35" dirty="0">
                <a:solidFill>
                  <a:srgbClr val="252525"/>
                </a:solidFill>
                <a:latin typeface="Calibri"/>
                <a:cs typeface="Calibri"/>
              </a:rPr>
              <a:t>of</a:t>
            </a:r>
            <a:r>
              <a:rPr sz="1800" spc="-60" dirty="0">
                <a:solidFill>
                  <a:srgbClr val="252525"/>
                </a:solidFill>
                <a:latin typeface="Calibri"/>
                <a:cs typeface="Calibri"/>
              </a:rPr>
              <a:t> </a:t>
            </a:r>
            <a:r>
              <a:rPr sz="1800" spc="-25" dirty="0">
                <a:solidFill>
                  <a:srgbClr val="252525"/>
                </a:solidFill>
                <a:latin typeface="Calibri"/>
                <a:cs typeface="Calibri"/>
              </a:rPr>
              <a:t>the </a:t>
            </a:r>
            <a:r>
              <a:rPr sz="1800" spc="-60" dirty="0">
                <a:solidFill>
                  <a:srgbClr val="252525"/>
                </a:solidFill>
                <a:latin typeface="Calibri"/>
                <a:cs typeface="Calibri"/>
              </a:rPr>
              <a:t>technologies currently</a:t>
            </a:r>
            <a:r>
              <a:rPr sz="1800" spc="-80" dirty="0">
                <a:solidFill>
                  <a:srgbClr val="252525"/>
                </a:solidFill>
                <a:latin typeface="Calibri"/>
                <a:cs typeface="Calibri"/>
              </a:rPr>
              <a:t> </a:t>
            </a:r>
            <a:r>
              <a:rPr sz="1800" spc="-55" dirty="0">
                <a:solidFill>
                  <a:srgbClr val="252525"/>
                </a:solidFill>
                <a:latin typeface="Calibri"/>
                <a:cs typeface="Calibri"/>
              </a:rPr>
              <a:t>being</a:t>
            </a:r>
            <a:r>
              <a:rPr sz="1800" spc="-60" dirty="0">
                <a:solidFill>
                  <a:srgbClr val="252525"/>
                </a:solidFill>
                <a:latin typeface="Calibri"/>
                <a:cs typeface="Calibri"/>
              </a:rPr>
              <a:t> </a:t>
            </a:r>
            <a:r>
              <a:rPr sz="1800" spc="-50" dirty="0">
                <a:solidFill>
                  <a:srgbClr val="252525"/>
                </a:solidFill>
                <a:latin typeface="Calibri"/>
                <a:cs typeface="Calibri"/>
              </a:rPr>
              <a:t>used</a:t>
            </a:r>
            <a:r>
              <a:rPr sz="1800" spc="-70" dirty="0">
                <a:solidFill>
                  <a:srgbClr val="252525"/>
                </a:solidFill>
                <a:latin typeface="Calibri"/>
                <a:cs typeface="Calibri"/>
              </a:rPr>
              <a:t> </a:t>
            </a:r>
            <a:r>
              <a:rPr sz="1800" spc="-45" dirty="0">
                <a:solidFill>
                  <a:srgbClr val="252525"/>
                </a:solidFill>
                <a:latin typeface="Calibri"/>
                <a:cs typeface="Calibri"/>
              </a:rPr>
              <a:t>and</a:t>
            </a:r>
            <a:r>
              <a:rPr sz="1800" spc="-60" dirty="0">
                <a:solidFill>
                  <a:srgbClr val="252525"/>
                </a:solidFill>
                <a:latin typeface="Calibri"/>
                <a:cs typeface="Calibri"/>
              </a:rPr>
              <a:t> </a:t>
            </a:r>
            <a:r>
              <a:rPr sz="1800" spc="-45" dirty="0">
                <a:solidFill>
                  <a:srgbClr val="252525"/>
                </a:solidFill>
                <a:latin typeface="Calibri"/>
                <a:cs typeface="Calibri"/>
              </a:rPr>
              <a:t>the</a:t>
            </a:r>
            <a:r>
              <a:rPr sz="1800" spc="-55" dirty="0">
                <a:solidFill>
                  <a:srgbClr val="252525"/>
                </a:solidFill>
                <a:latin typeface="Calibri"/>
                <a:cs typeface="Calibri"/>
              </a:rPr>
              <a:t> tools</a:t>
            </a:r>
            <a:r>
              <a:rPr sz="1800" spc="-75" dirty="0">
                <a:solidFill>
                  <a:srgbClr val="252525"/>
                </a:solidFill>
                <a:latin typeface="Calibri"/>
                <a:cs typeface="Calibri"/>
              </a:rPr>
              <a:t> </a:t>
            </a:r>
            <a:r>
              <a:rPr sz="1800" spc="-45" dirty="0">
                <a:solidFill>
                  <a:srgbClr val="252525"/>
                </a:solidFill>
                <a:latin typeface="Calibri"/>
                <a:cs typeface="Calibri"/>
              </a:rPr>
              <a:t>and</a:t>
            </a:r>
            <a:r>
              <a:rPr sz="1800" spc="-55" dirty="0">
                <a:solidFill>
                  <a:srgbClr val="252525"/>
                </a:solidFill>
                <a:latin typeface="Calibri"/>
                <a:cs typeface="Calibri"/>
              </a:rPr>
              <a:t> </a:t>
            </a:r>
            <a:r>
              <a:rPr sz="1800" spc="-35" dirty="0">
                <a:solidFill>
                  <a:srgbClr val="252525"/>
                </a:solidFill>
                <a:latin typeface="Calibri"/>
                <a:cs typeface="Calibri"/>
              </a:rPr>
              <a:t>technologies </a:t>
            </a:r>
            <a:r>
              <a:rPr sz="1800" spc="-65" dirty="0">
                <a:solidFill>
                  <a:srgbClr val="252525"/>
                </a:solidFill>
                <a:latin typeface="Calibri"/>
                <a:cs typeface="Calibri"/>
              </a:rPr>
              <a:t>developers</a:t>
            </a:r>
            <a:r>
              <a:rPr sz="1800" spc="-80" dirty="0">
                <a:solidFill>
                  <a:srgbClr val="252525"/>
                </a:solidFill>
                <a:latin typeface="Calibri"/>
                <a:cs typeface="Calibri"/>
              </a:rPr>
              <a:t> </a:t>
            </a:r>
            <a:r>
              <a:rPr sz="1800" spc="-55" dirty="0">
                <a:solidFill>
                  <a:srgbClr val="252525"/>
                </a:solidFill>
                <a:latin typeface="Calibri"/>
                <a:cs typeface="Calibri"/>
              </a:rPr>
              <a:t>aspire</a:t>
            </a:r>
            <a:r>
              <a:rPr sz="1800" spc="-65" dirty="0">
                <a:solidFill>
                  <a:srgbClr val="252525"/>
                </a:solidFill>
                <a:latin typeface="Calibri"/>
                <a:cs typeface="Calibri"/>
              </a:rPr>
              <a:t> </a:t>
            </a:r>
            <a:r>
              <a:rPr sz="1800" spc="-45" dirty="0">
                <a:solidFill>
                  <a:srgbClr val="252525"/>
                </a:solidFill>
                <a:latin typeface="Calibri"/>
                <a:cs typeface="Calibri"/>
              </a:rPr>
              <a:t>to</a:t>
            </a:r>
            <a:r>
              <a:rPr sz="1800" spc="-85" dirty="0">
                <a:solidFill>
                  <a:srgbClr val="252525"/>
                </a:solidFill>
                <a:latin typeface="Calibri"/>
                <a:cs typeface="Calibri"/>
              </a:rPr>
              <a:t> </a:t>
            </a:r>
            <a:r>
              <a:rPr sz="1800" spc="-55" dirty="0">
                <a:solidFill>
                  <a:srgbClr val="252525"/>
                </a:solidFill>
                <a:latin typeface="Calibri"/>
                <a:cs typeface="Calibri"/>
              </a:rPr>
              <a:t>adopt</a:t>
            </a:r>
            <a:r>
              <a:rPr sz="1800" spc="-50" dirty="0">
                <a:solidFill>
                  <a:srgbClr val="252525"/>
                </a:solidFill>
                <a:latin typeface="Calibri"/>
                <a:cs typeface="Calibri"/>
              </a:rPr>
              <a:t> </a:t>
            </a:r>
            <a:r>
              <a:rPr sz="1800" spc="-35" dirty="0">
                <a:solidFill>
                  <a:srgbClr val="252525"/>
                </a:solidFill>
                <a:latin typeface="Calibri"/>
                <a:cs typeface="Calibri"/>
              </a:rPr>
              <a:t>in</a:t>
            </a:r>
            <a:r>
              <a:rPr sz="1800" spc="-65" dirty="0">
                <a:solidFill>
                  <a:srgbClr val="252525"/>
                </a:solidFill>
                <a:latin typeface="Calibri"/>
                <a:cs typeface="Calibri"/>
              </a:rPr>
              <a:t> </a:t>
            </a:r>
            <a:r>
              <a:rPr sz="1800" spc="-45" dirty="0">
                <a:solidFill>
                  <a:srgbClr val="252525"/>
                </a:solidFill>
                <a:latin typeface="Calibri"/>
                <a:cs typeface="Calibri"/>
              </a:rPr>
              <a:t>the</a:t>
            </a:r>
            <a:r>
              <a:rPr sz="1800" spc="-65" dirty="0">
                <a:solidFill>
                  <a:srgbClr val="252525"/>
                </a:solidFill>
                <a:latin typeface="Calibri"/>
                <a:cs typeface="Calibri"/>
              </a:rPr>
              <a:t> </a:t>
            </a:r>
            <a:r>
              <a:rPr sz="1800" spc="-10" dirty="0">
                <a:solidFill>
                  <a:srgbClr val="252525"/>
                </a:solidFill>
                <a:latin typeface="Calibri"/>
                <a:cs typeface="Calibri"/>
              </a:rPr>
              <a:t>future.</a:t>
            </a:r>
            <a:endParaRPr sz="1800" dirty="0">
              <a:latin typeface="Calibri"/>
              <a:cs typeface="Calibri"/>
            </a:endParaRPr>
          </a:p>
          <a:p>
            <a:pPr marL="241300" marR="19685" indent="-228600">
              <a:lnSpc>
                <a:spcPct val="100000"/>
              </a:lnSpc>
              <a:spcBef>
                <a:spcPts val="1010"/>
              </a:spcBef>
              <a:buFont typeface="Arial MT"/>
              <a:buChar char="•"/>
              <a:tabLst>
                <a:tab pos="241300" algn="l"/>
              </a:tabLst>
            </a:pPr>
            <a:r>
              <a:rPr sz="1800" spc="-45" dirty="0">
                <a:solidFill>
                  <a:srgbClr val="252525"/>
                </a:solidFill>
                <a:latin typeface="Calibri"/>
                <a:cs typeface="Calibri"/>
              </a:rPr>
              <a:t>The</a:t>
            </a:r>
            <a:r>
              <a:rPr sz="1800" spc="-60" dirty="0">
                <a:solidFill>
                  <a:srgbClr val="252525"/>
                </a:solidFill>
                <a:latin typeface="Calibri"/>
                <a:cs typeface="Calibri"/>
              </a:rPr>
              <a:t> project</a:t>
            </a:r>
            <a:r>
              <a:rPr sz="1800" spc="-75" dirty="0">
                <a:solidFill>
                  <a:srgbClr val="252525"/>
                </a:solidFill>
                <a:latin typeface="Calibri"/>
                <a:cs typeface="Calibri"/>
              </a:rPr>
              <a:t> </a:t>
            </a:r>
            <a:r>
              <a:rPr sz="1800" spc="-50" dirty="0">
                <a:solidFill>
                  <a:srgbClr val="252525"/>
                </a:solidFill>
                <a:latin typeface="Calibri"/>
                <a:cs typeface="Calibri"/>
              </a:rPr>
              <a:t>aims</a:t>
            </a:r>
            <a:r>
              <a:rPr sz="1800" spc="-65" dirty="0">
                <a:solidFill>
                  <a:srgbClr val="252525"/>
                </a:solidFill>
                <a:latin typeface="Calibri"/>
                <a:cs typeface="Calibri"/>
              </a:rPr>
              <a:t> </a:t>
            </a:r>
            <a:r>
              <a:rPr sz="1800" spc="-45" dirty="0">
                <a:solidFill>
                  <a:srgbClr val="252525"/>
                </a:solidFill>
                <a:latin typeface="Calibri"/>
                <a:cs typeface="Calibri"/>
              </a:rPr>
              <a:t>to</a:t>
            </a:r>
            <a:r>
              <a:rPr sz="1800" spc="-75" dirty="0">
                <a:solidFill>
                  <a:srgbClr val="252525"/>
                </a:solidFill>
                <a:latin typeface="Calibri"/>
                <a:cs typeface="Calibri"/>
              </a:rPr>
              <a:t> </a:t>
            </a:r>
            <a:r>
              <a:rPr sz="1800" spc="-65" dirty="0">
                <a:solidFill>
                  <a:srgbClr val="252525"/>
                </a:solidFill>
                <a:latin typeface="Calibri"/>
                <a:cs typeface="Calibri"/>
              </a:rPr>
              <a:t>analyze</a:t>
            </a:r>
            <a:r>
              <a:rPr sz="1800" spc="-70" dirty="0">
                <a:solidFill>
                  <a:srgbClr val="252525"/>
                </a:solidFill>
                <a:latin typeface="Calibri"/>
                <a:cs typeface="Calibri"/>
              </a:rPr>
              <a:t> </a:t>
            </a:r>
            <a:r>
              <a:rPr sz="1800" spc="-55" dirty="0">
                <a:solidFill>
                  <a:srgbClr val="252525"/>
                </a:solidFill>
                <a:latin typeface="Calibri"/>
                <a:cs typeface="Calibri"/>
              </a:rPr>
              <a:t>global</a:t>
            </a:r>
            <a:r>
              <a:rPr sz="1800" spc="-65" dirty="0">
                <a:solidFill>
                  <a:srgbClr val="252525"/>
                </a:solidFill>
                <a:latin typeface="Calibri"/>
                <a:cs typeface="Calibri"/>
              </a:rPr>
              <a:t> </a:t>
            </a:r>
            <a:r>
              <a:rPr sz="1800" spc="-60" dirty="0">
                <a:solidFill>
                  <a:srgbClr val="252525"/>
                </a:solidFill>
                <a:latin typeface="Calibri"/>
                <a:cs typeface="Calibri"/>
              </a:rPr>
              <a:t>trends</a:t>
            </a:r>
            <a:r>
              <a:rPr sz="1800" spc="-65" dirty="0">
                <a:solidFill>
                  <a:srgbClr val="252525"/>
                </a:solidFill>
                <a:latin typeface="Calibri"/>
                <a:cs typeface="Calibri"/>
              </a:rPr>
              <a:t> </a:t>
            </a:r>
            <a:r>
              <a:rPr sz="1800" spc="-40" dirty="0">
                <a:solidFill>
                  <a:srgbClr val="252525"/>
                </a:solidFill>
                <a:latin typeface="Calibri"/>
                <a:cs typeface="Calibri"/>
              </a:rPr>
              <a:t>in </a:t>
            </a:r>
            <a:r>
              <a:rPr sz="1800" spc="-50" dirty="0">
                <a:solidFill>
                  <a:srgbClr val="252525"/>
                </a:solidFill>
                <a:latin typeface="Calibri"/>
                <a:cs typeface="Calibri"/>
              </a:rPr>
              <a:t>the</a:t>
            </a:r>
            <a:r>
              <a:rPr sz="1800" spc="-70" dirty="0">
                <a:solidFill>
                  <a:srgbClr val="252525"/>
                </a:solidFill>
                <a:latin typeface="Calibri"/>
                <a:cs typeface="Calibri"/>
              </a:rPr>
              <a:t> </a:t>
            </a:r>
            <a:r>
              <a:rPr sz="1800" spc="-10" dirty="0">
                <a:solidFill>
                  <a:srgbClr val="252525"/>
                </a:solidFill>
                <a:latin typeface="Calibri"/>
                <a:cs typeface="Calibri"/>
              </a:rPr>
              <a:t>developer </a:t>
            </a:r>
            <a:r>
              <a:rPr sz="1800" spc="-65" dirty="0">
                <a:solidFill>
                  <a:srgbClr val="252525"/>
                </a:solidFill>
                <a:latin typeface="Calibri"/>
                <a:cs typeface="Calibri"/>
              </a:rPr>
              <a:t>ecosystem,</a:t>
            </a:r>
            <a:r>
              <a:rPr sz="1800" spc="-85" dirty="0">
                <a:solidFill>
                  <a:srgbClr val="252525"/>
                </a:solidFill>
                <a:latin typeface="Calibri"/>
                <a:cs typeface="Calibri"/>
              </a:rPr>
              <a:t> </a:t>
            </a:r>
            <a:r>
              <a:rPr sz="1800" spc="-55" dirty="0">
                <a:solidFill>
                  <a:srgbClr val="252525"/>
                </a:solidFill>
                <a:latin typeface="Calibri"/>
                <a:cs typeface="Calibri"/>
              </a:rPr>
              <a:t>identify</a:t>
            </a:r>
            <a:r>
              <a:rPr sz="1800" spc="-60" dirty="0">
                <a:solidFill>
                  <a:srgbClr val="252525"/>
                </a:solidFill>
                <a:latin typeface="Calibri"/>
                <a:cs typeface="Calibri"/>
              </a:rPr>
              <a:t> </a:t>
            </a:r>
            <a:r>
              <a:rPr sz="1800" spc="-65" dirty="0">
                <a:solidFill>
                  <a:srgbClr val="252525"/>
                </a:solidFill>
                <a:latin typeface="Calibri"/>
                <a:cs typeface="Calibri"/>
              </a:rPr>
              <a:t>key</a:t>
            </a:r>
            <a:r>
              <a:rPr sz="1800" spc="-45" dirty="0">
                <a:solidFill>
                  <a:srgbClr val="252525"/>
                </a:solidFill>
                <a:latin typeface="Calibri"/>
                <a:cs typeface="Calibri"/>
              </a:rPr>
              <a:t> </a:t>
            </a:r>
            <a:r>
              <a:rPr sz="1800" spc="-65" dirty="0">
                <a:solidFill>
                  <a:srgbClr val="252525"/>
                </a:solidFill>
                <a:latin typeface="Calibri"/>
                <a:cs typeface="Calibri"/>
              </a:rPr>
              <a:t>patterns</a:t>
            </a:r>
            <a:r>
              <a:rPr sz="1800" spc="-70" dirty="0">
                <a:solidFill>
                  <a:srgbClr val="252525"/>
                </a:solidFill>
                <a:latin typeface="Calibri"/>
                <a:cs typeface="Calibri"/>
              </a:rPr>
              <a:t> </a:t>
            </a:r>
            <a:r>
              <a:rPr sz="1800" spc="-35" dirty="0">
                <a:solidFill>
                  <a:srgbClr val="252525"/>
                </a:solidFill>
                <a:latin typeface="Calibri"/>
                <a:cs typeface="Calibri"/>
              </a:rPr>
              <a:t>in</a:t>
            </a:r>
            <a:r>
              <a:rPr sz="1800" spc="-45" dirty="0">
                <a:solidFill>
                  <a:srgbClr val="252525"/>
                </a:solidFill>
                <a:latin typeface="Calibri"/>
                <a:cs typeface="Calibri"/>
              </a:rPr>
              <a:t> </a:t>
            </a:r>
            <a:r>
              <a:rPr sz="1800" spc="-60" dirty="0">
                <a:solidFill>
                  <a:srgbClr val="252525"/>
                </a:solidFill>
                <a:latin typeface="Calibri"/>
                <a:cs typeface="Calibri"/>
              </a:rPr>
              <a:t>technology</a:t>
            </a:r>
            <a:r>
              <a:rPr sz="1800" spc="-50" dirty="0">
                <a:solidFill>
                  <a:srgbClr val="252525"/>
                </a:solidFill>
                <a:latin typeface="Calibri"/>
                <a:cs typeface="Calibri"/>
              </a:rPr>
              <a:t> </a:t>
            </a:r>
            <a:r>
              <a:rPr sz="1800" spc="-65" dirty="0">
                <a:solidFill>
                  <a:srgbClr val="252525"/>
                </a:solidFill>
                <a:latin typeface="Calibri"/>
                <a:cs typeface="Calibri"/>
              </a:rPr>
              <a:t>preferences, </a:t>
            </a:r>
            <a:r>
              <a:rPr sz="1800" spc="-25" dirty="0">
                <a:solidFill>
                  <a:srgbClr val="252525"/>
                </a:solidFill>
                <a:latin typeface="Calibri"/>
                <a:cs typeface="Calibri"/>
              </a:rPr>
              <a:t>and </a:t>
            </a:r>
            <a:r>
              <a:rPr sz="1800" spc="-60" dirty="0">
                <a:solidFill>
                  <a:srgbClr val="252525"/>
                </a:solidFill>
                <a:latin typeface="Calibri"/>
                <a:cs typeface="Calibri"/>
              </a:rPr>
              <a:t>uncover</a:t>
            </a:r>
            <a:r>
              <a:rPr sz="1800" spc="-55" dirty="0">
                <a:solidFill>
                  <a:srgbClr val="252525"/>
                </a:solidFill>
                <a:latin typeface="Calibri"/>
                <a:cs typeface="Calibri"/>
              </a:rPr>
              <a:t> </a:t>
            </a:r>
            <a:r>
              <a:rPr sz="1800" spc="-60" dirty="0">
                <a:solidFill>
                  <a:srgbClr val="252525"/>
                </a:solidFill>
                <a:latin typeface="Calibri"/>
                <a:cs typeface="Calibri"/>
              </a:rPr>
              <a:t>potential</a:t>
            </a:r>
            <a:r>
              <a:rPr sz="1800" spc="-35" dirty="0">
                <a:solidFill>
                  <a:srgbClr val="252525"/>
                </a:solidFill>
                <a:latin typeface="Calibri"/>
                <a:cs typeface="Calibri"/>
              </a:rPr>
              <a:t> </a:t>
            </a:r>
            <a:r>
              <a:rPr sz="1800" spc="-65" dirty="0">
                <a:solidFill>
                  <a:srgbClr val="252525"/>
                </a:solidFill>
                <a:latin typeface="Calibri"/>
                <a:cs typeface="Calibri"/>
              </a:rPr>
              <a:t>correlations</a:t>
            </a:r>
            <a:r>
              <a:rPr sz="1800" spc="-40" dirty="0">
                <a:solidFill>
                  <a:srgbClr val="252525"/>
                </a:solidFill>
                <a:latin typeface="Calibri"/>
                <a:cs typeface="Calibri"/>
              </a:rPr>
              <a:t> </a:t>
            </a:r>
            <a:r>
              <a:rPr sz="1800" spc="-60" dirty="0">
                <a:solidFill>
                  <a:srgbClr val="252525"/>
                </a:solidFill>
                <a:latin typeface="Calibri"/>
                <a:cs typeface="Calibri"/>
              </a:rPr>
              <a:t>between</a:t>
            </a:r>
            <a:r>
              <a:rPr sz="1800" spc="-30" dirty="0">
                <a:solidFill>
                  <a:srgbClr val="252525"/>
                </a:solidFill>
                <a:latin typeface="Calibri"/>
                <a:cs typeface="Calibri"/>
              </a:rPr>
              <a:t> </a:t>
            </a:r>
            <a:r>
              <a:rPr sz="1800" spc="-60" dirty="0">
                <a:solidFill>
                  <a:srgbClr val="252525"/>
                </a:solidFill>
                <a:latin typeface="Calibri"/>
                <a:cs typeface="Calibri"/>
              </a:rPr>
              <a:t>developer</a:t>
            </a:r>
            <a:r>
              <a:rPr sz="1800" spc="-50" dirty="0">
                <a:solidFill>
                  <a:srgbClr val="252525"/>
                </a:solidFill>
                <a:latin typeface="Calibri"/>
                <a:cs typeface="Calibri"/>
              </a:rPr>
              <a:t> </a:t>
            </a:r>
            <a:r>
              <a:rPr sz="1800" spc="-35" dirty="0">
                <a:solidFill>
                  <a:srgbClr val="252525"/>
                </a:solidFill>
                <a:latin typeface="Calibri"/>
                <a:cs typeface="Calibri"/>
              </a:rPr>
              <a:t>demographics </a:t>
            </a:r>
            <a:r>
              <a:rPr sz="1800" spc="-45" dirty="0">
                <a:solidFill>
                  <a:srgbClr val="252525"/>
                </a:solidFill>
                <a:latin typeface="Calibri"/>
                <a:cs typeface="Calibri"/>
              </a:rPr>
              <a:t>and</a:t>
            </a:r>
            <a:r>
              <a:rPr sz="1800" spc="-75" dirty="0">
                <a:solidFill>
                  <a:srgbClr val="252525"/>
                </a:solidFill>
                <a:latin typeface="Calibri"/>
                <a:cs typeface="Calibri"/>
              </a:rPr>
              <a:t> </a:t>
            </a:r>
            <a:r>
              <a:rPr sz="1800" spc="-50" dirty="0">
                <a:solidFill>
                  <a:srgbClr val="252525"/>
                </a:solidFill>
                <a:latin typeface="Calibri"/>
                <a:cs typeface="Calibri"/>
              </a:rPr>
              <a:t>their</a:t>
            </a:r>
            <a:r>
              <a:rPr sz="1800" spc="-75" dirty="0">
                <a:solidFill>
                  <a:srgbClr val="252525"/>
                </a:solidFill>
                <a:latin typeface="Calibri"/>
                <a:cs typeface="Calibri"/>
              </a:rPr>
              <a:t> </a:t>
            </a:r>
            <a:r>
              <a:rPr sz="1800" spc="-55" dirty="0">
                <a:solidFill>
                  <a:srgbClr val="252525"/>
                </a:solidFill>
                <a:latin typeface="Calibri"/>
                <a:cs typeface="Calibri"/>
              </a:rPr>
              <a:t>tool</a:t>
            </a:r>
            <a:r>
              <a:rPr sz="1800" spc="-80" dirty="0">
                <a:solidFill>
                  <a:srgbClr val="252525"/>
                </a:solidFill>
                <a:latin typeface="Calibri"/>
                <a:cs typeface="Calibri"/>
              </a:rPr>
              <a:t> </a:t>
            </a:r>
            <a:r>
              <a:rPr sz="1800" spc="-10" dirty="0">
                <a:solidFill>
                  <a:srgbClr val="252525"/>
                </a:solidFill>
                <a:latin typeface="Calibri"/>
                <a:cs typeface="Calibri"/>
              </a:rPr>
              <a:t>choices.</a:t>
            </a:r>
            <a:endParaRPr sz="1800" dirty="0">
              <a:latin typeface="Calibri"/>
              <a:cs typeface="Calibri"/>
            </a:endParaRPr>
          </a:p>
          <a:p>
            <a:pPr marL="241300" marR="131445" indent="-228600">
              <a:lnSpc>
                <a:spcPct val="100000"/>
              </a:lnSpc>
              <a:spcBef>
                <a:spcPts val="1000"/>
              </a:spcBef>
              <a:buFont typeface="Arial MT"/>
              <a:buChar char="•"/>
              <a:tabLst>
                <a:tab pos="241300" algn="l"/>
              </a:tabLst>
            </a:pPr>
            <a:r>
              <a:rPr sz="1800" spc="-45" dirty="0">
                <a:solidFill>
                  <a:srgbClr val="252525"/>
                </a:solidFill>
                <a:latin typeface="Calibri"/>
                <a:cs typeface="Calibri"/>
              </a:rPr>
              <a:t>The</a:t>
            </a:r>
            <a:r>
              <a:rPr sz="1800" spc="-65" dirty="0">
                <a:solidFill>
                  <a:srgbClr val="252525"/>
                </a:solidFill>
                <a:latin typeface="Calibri"/>
                <a:cs typeface="Calibri"/>
              </a:rPr>
              <a:t> </a:t>
            </a:r>
            <a:r>
              <a:rPr sz="1800" spc="-60" dirty="0">
                <a:solidFill>
                  <a:srgbClr val="252525"/>
                </a:solidFill>
                <a:latin typeface="Calibri"/>
                <a:cs typeface="Calibri"/>
              </a:rPr>
              <a:t>dataset</a:t>
            </a:r>
            <a:r>
              <a:rPr sz="1800" spc="-95" dirty="0">
                <a:solidFill>
                  <a:srgbClr val="252525"/>
                </a:solidFill>
                <a:latin typeface="Calibri"/>
                <a:cs typeface="Calibri"/>
              </a:rPr>
              <a:t> </a:t>
            </a:r>
            <a:r>
              <a:rPr sz="1800" spc="-50" dirty="0">
                <a:solidFill>
                  <a:srgbClr val="252525"/>
                </a:solidFill>
                <a:latin typeface="Calibri"/>
                <a:cs typeface="Calibri"/>
              </a:rPr>
              <a:t>used</a:t>
            </a:r>
            <a:r>
              <a:rPr sz="1800" spc="-75" dirty="0">
                <a:solidFill>
                  <a:srgbClr val="252525"/>
                </a:solidFill>
                <a:latin typeface="Calibri"/>
                <a:cs typeface="Calibri"/>
              </a:rPr>
              <a:t> </a:t>
            </a:r>
            <a:r>
              <a:rPr sz="1800" spc="-45" dirty="0">
                <a:solidFill>
                  <a:srgbClr val="252525"/>
                </a:solidFill>
                <a:latin typeface="Calibri"/>
                <a:cs typeface="Calibri"/>
              </a:rPr>
              <a:t>has</a:t>
            </a:r>
            <a:r>
              <a:rPr sz="1800" spc="-75" dirty="0">
                <a:solidFill>
                  <a:srgbClr val="252525"/>
                </a:solidFill>
                <a:latin typeface="Calibri"/>
                <a:cs typeface="Calibri"/>
              </a:rPr>
              <a:t> </a:t>
            </a:r>
            <a:r>
              <a:rPr sz="1800" spc="-50" dirty="0">
                <a:solidFill>
                  <a:srgbClr val="252525"/>
                </a:solidFill>
                <a:latin typeface="Calibri"/>
                <a:cs typeface="Calibri"/>
              </a:rPr>
              <a:t>been</a:t>
            </a:r>
            <a:r>
              <a:rPr sz="1800" spc="-55" dirty="0">
                <a:solidFill>
                  <a:srgbClr val="252525"/>
                </a:solidFill>
                <a:latin typeface="Calibri"/>
                <a:cs typeface="Calibri"/>
              </a:rPr>
              <a:t> </a:t>
            </a:r>
            <a:r>
              <a:rPr sz="1800" spc="-60" dirty="0">
                <a:solidFill>
                  <a:srgbClr val="252525"/>
                </a:solidFill>
                <a:latin typeface="Calibri"/>
                <a:cs typeface="Calibri"/>
              </a:rPr>
              <a:t>filtered </a:t>
            </a:r>
            <a:r>
              <a:rPr sz="1800" spc="-45" dirty="0">
                <a:solidFill>
                  <a:srgbClr val="252525"/>
                </a:solidFill>
                <a:latin typeface="Calibri"/>
                <a:cs typeface="Calibri"/>
              </a:rPr>
              <a:t>and</a:t>
            </a:r>
            <a:r>
              <a:rPr sz="1800" spc="-60" dirty="0">
                <a:solidFill>
                  <a:srgbClr val="252525"/>
                </a:solidFill>
                <a:latin typeface="Calibri"/>
                <a:cs typeface="Calibri"/>
              </a:rPr>
              <a:t> </a:t>
            </a:r>
            <a:r>
              <a:rPr sz="1800" spc="-65" dirty="0">
                <a:solidFill>
                  <a:srgbClr val="252525"/>
                </a:solidFill>
                <a:latin typeface="Calibri"/>
                <a:cs typeface="Calibri"/>
              </a:rPr>
              <a:t>pre-</a:t>
            </a:r>
            <a:r>
              <a:rPr sz="1800" spc="-60" dirty="0">
                <a:solidFill>
                  <a:srgbClr val="252525"/>
                </a:solidFill>
                <a:latin typeface="Calibri"/>
                <a:cs typeface="Calibri"/>
              </a:rPr>
              <a:t>processed</a:t>
            </a:r>
            <a:r>
              <a:rPr sz="1800" spc="-90" dirty="0">
                <a:solidFill>
                  <a:srgbClr val="252525"/>
                </a:solidFill>
                <a:latin typeface="Calibri"/>
                <a:cs typeface="Calibri"/>
              </a:rPr>
              <a:t> </a:t>
            </a:r>
            <a:r>
              <a:rPr sz="1800" spc="-45" dirty="0">
                <a:solidFill>
                  <a:srgbClr val="252525"/>
                </a:solidFill>
                <a:latin typeface="Calibri"/>
                <a:cs typeface="Calibri"/>
              </a:rPr>
              <a:t>to</a:t>
            </a:r>
            <a:r>
              <a:rPr sz="1800" spc="-80" dirty="0">
                <a:solidFill>
                  <a:srgbClr val="252525"/>
                </a:solidFill>
                <a:latin typeface="Calibri"/>
                <a:cs typeface="Calibri"/>
              </a:rPr>
              <a:t> </a:t>
            </a:r>
            <a:r>
              <a:rPr sz="1800" spc="-10" dirty="0">
                <a:solidFill>
                  <a:srgbClr val="252525"/>
                </a:solidFill>
                <a:latin typeface="Calibri"/>
                <a:cs typeface="Calibri"/>
              </a:rPr>
              <a:t>ensure </a:t>
            </a:r>
            <a:r>
              <a:rPr sz="1800" spc="-65" dirty="0">
                <a:solidFill>
                  <a:srgbClr val="252525"/>
                </a:solidFill>
                <a:latin typeface="Calibri"/>
                <a:cs typeface="Calibri"/>
              </a:rPr>
              <a:t>consistency</a:t>
            </a:r>
            <a:r>
              <a:rPr sz="1800" spc="-60" dirty="0">
                <a:solidFill>
                  <a:srgbClr val="252525"/>
                </a:solidFill>
                <a:latin typeface="Calibri"/>
                <a:cs typeface="Calibri"/>
              </a:rPr>
              <a:t> </a:t>
            </a:r>
            <a:r>
              <a:rPr sz="1800" spc="-45" dirty="0">
                <a:solidFill>
                  <a:srgbClr val="252525"/>
                </a:solidFill>
                <a:latin typeface="Calibri"/>
                <a:cs typeface="Calibri"/>
              </a:rPr>
              <a:t>and </a:t>
            </a:r>
            <a:r>
              <a:rPr sz="1800" spc="-10" dirty="0">
                <a:solidFill>
                  <a:srgbClr val="252525"/>
                </a:solidFill>
                <a:latin typeface="Calibri"/>
                <a:cs typeface="Calibri"/>
              </a:rPr>
              <a:t>reliability..</a:t>
            </a:r>
            <a:endParaRPr sz="1800" dirty="0">
              <a:latin typeface="Calibri"/>
              <a:cs typeface="Calibri"/>
            </a:endParaRPr>
          </a:p>
          <a:p>
            <a:pPr marL="241300" marR="40005" indent="-228600">
              <a:lnSpc>
                <a:spcPct val="100000"/>
              </a:lnSpc>
              <a:spcBef>
                <a:spcPts val="994"/>
              </a:spcBef>
              <a:buFont typeface="Arial MT"/>
              <a:buChar char="•"/>
              <a:tabLst>
                <a:tab pos="241300" algn="l"/>
              </a:tabLst>
            </a:pPr>
            <a:r>
              <a:rPr sz="1800" spc="-45" dirty="0">
                <a:solidFill>
                  <a:srgbClr val="252525"/>
                </a:solidFill>
                <a:latin typeface="Calibri"/>
                <a:cs typeface="Calibri"/>
              </a:rPr>
              <a:t>The</a:t>
            </a:r>
            <a:r>
              <a:rPr sz="1800" spc="-40" dirty="0">
                <a:solidFill>
                  <a:srgbClr val="252525"/>
                </a:solidFill>
                <a:latin typeface="Calibri"/>
                <a:cs typeface="Calibri"/>
              </a:rPr>
              <a:t> </a:t>
            </a:r>
            <a:r>
              <a:rPr sz="1800" spc="-60" dirty="0">
                <a:solidFill>
                  <a:srgbClr val="252525"/>
                </a:solidFill>
                <a:latin typeface="Calibri"/>
                <a:cs typeface="Calibri"/>
              </a:rPr>
              <a:t>project</a:t>
            </a:r>
            <a:r>
              <a:rPr sz="1800" spc="-55" dirty="0">
                <a:solidFill>
                  <a:srgbClr val="252525"/>
                </a:solidFill>
                <a:latin typeface="Calibri"/>
                <a:cs typeface="Calibri"/>
              </a:rPr>
              <a:t> </a:t>
            </a:r>
            <a:r>
              <a:rPr sz="1800" spc="-60" dirty="0">
                <a:solidFill>
                  <a:srgbClr val="252525"/>
                </a:solidFill>
                <a:latin typeface="Calibri"/>
                <a:cs typeface="Calibri"/>
              </a:rPr>
              <a:t>combines</a:t>
            </a:r>
            <a:r>
              <a:rPr sz="1800" spc="-50" dirty="0">
                <a:solidFill>
                  <a:srgbClr val="252525"/>
                </a:solidFill>
                <a:latin typeface="Calibri"/>
                <a:cs typeface="Calibri"/>
              </a:rPr>
              <a:t> </a:t>
            </a:r>
            <a:r>
              <a:rPr sz="1800" spc="-60" dirty="0">
                <a:solidFill>
                  <a:srgbClr val="252525"/>
                </a:solidFill>
                <a:latin typeface="Calibri"/>
                <a:cs typeface="Calibri"/>
              </a:rPr>
              <a:t>data</a:t>
            </a:r>
            <a:r>
              <a:rPr sz="1800" spc="-55" dirty="0">
                <a:solidFill>
                  <a:srgbClr val="252525"/>
                </a:solidFill>
                <a:latin typeface="Calibri"/>
                <a:cs typeface="Calibri"/>
              </a:rPr>
              <a:t> </a:t>
            </a:r>
            <a:r>
              <a:rPr sz="1800" spc="-60" dirty="0">
                <a:solidFill>
                  <a:srgbClr val="252525"/>
                </a:solidFill>
                <a:latin typeface="Calibri"/>
                <a:cs typeface="Calibri"/>
              </a:rPr>
              <a:t>wrangling,</a:t>
            </a:r>
            <a:r>
              <a:rPr sz="1800" spc="-45" dirty="0">
                <a:solidFill>
                  <a:srgbClr val="252525"/>
                </a:solidFill>
                <a:latin typeface="Calibri"/>
                <a:cs typeface="Calibri"/>
              </a:rPr>
              <a:t> </a:t>
            </a:r>
            <a:r>
              <a:rPr sz="1800" spc="-65" dirty="0">
                <a:solidFill>
                  <a:srgbClr val="252525"/>
                </a:solidFill>
                <a:latin typeface="Calibri"/>
                <a:cs typeface="Calibri"/>
              </a:rPr>
              <a:t>exploratory</a:t>
            </a:r>
            <a:r>
              <a:rPr sz="1800" spc="-80" dirty="0">
                <a:solidFill>
                  <a:srgbClr val="252525"/>
                </a:solidFill>
                <a:latin typeface="Calibri"/>
                <a:cs typeface="Calibri"/>
              </a:rPr>
              <a:t> </a:t>
            </a:r>
            <a:r>
              <a:rPr sz="1800" spc="-55" dirty="0">
                <a:solidFill>
                  <a:srgbClr val="252525"/>
                </a:solidFill>
                <a:latin typeface="Calibri"/>
                <a:cs typeface="Calibri"/>
              </a:rPr>
              <a:t>analysis,</a:t>
            </a:r>
            <a:r>
              <a:rPr sz="1800" spc="-75" dirty="0">
                <a:solidFill>
                  <a:srgbClr val="252525"/>
                </a:solidFill>
                <a:latin typeface="Calibri"/>
                <a:cs typeface="Calibri"/>
              </a:rPr>
              <a:t> </a:t>
            </a:r>
            <a:r>
              <a:rPr sz="1800" spc="-25" dirty="0">
                <a:solidFill>
                  <a:srgbClr val="252525"/>
                </a:solidFill>
                <a:latin typeface="Calibri"/>
                <a:cs typeface="Calibri"/>
              </a:rPr>
              <a:t>and </a:t>
            </a:r>
            <a:r>
              <a:rPr sz="1800" spc="-60" dirty="0">
                <a:solidFill>
                  <a:srgbClr val="252525"/>
                </a:solidFill>
                <a:latin typeface="Calibri"/>
                <a:cs typeface="Calibri"/>
              </a:rPr>
              <a:t>visualization</a:t>
            </a:r>
            <a:r>
              <a:rPr sz="1800" spc="-80" dirty="0">
                <a:solidFill>
                  <a:srgbClr val="252525"/>
                </a:solidFill>
                <a:latin typeface="Calibri"/>
                <a:cs typeface="Calibri"/>
              </a:rPr>
              <a:t> </a:t>
            </a:r>
            <a:r>
              <a:rPr sz="1800" spc="-60" dirty="0">
                <a:solidFill>
                  <a:srgbClr val="252525"/>
                </a:solidFill>
                <a:latin typeface="Calibri"/>
                <a:cs typeface="Calibri"/>
              </a:rPr>
              <a:t>techniques.</a:t>
            </a:r>
            <a:r>
              <a:rPr sz="1800" spc="-40" dirty="0">
                <a:solidFill>
                  <a:srgbClr val="252525"/>
                </a:solidFill>
                <a:latin typeface="Calibri"/>
                <a:cs typeface="Calibri"/>
              </a:rPr>
              <a:t> </a:t>
            </a:r>
            <a:r>
              <a:rPr sz="1800" spc="-45" dirty="0">
                <a:solidFill>
                  <a:srgbClr val="252525"/>
                </a:solidFill>
                <a:latin typeface="Calibri"/>
                <a:cs typeface="Calibri"/>
              </a:rPr>
              <a:t>to</a:t>
            </a:r>
            <a:r>
              <a:rPr sz="1800" spc="-55" dirty="0">
                <a:solidFill>
                  <a:srgbClr val="252525"/>
                </a:solidFill>
                <a:latin typeface="Calibri"/>
                <a:cs typeface="Calibri"/>
              </a:rPr>
              <a:t> </a:t>
            </a:r>
            <a:r>
              <a:rPr sz="1800" spc="-60" dirty="0">
                <a:solidFill>
                  <a:srgbClr val="252525"/>
                </a:solidFill>
                <a:latin typeface="Calibri"/>
                <a:cs typeface="Calibri"/>
              </a:rPr>
              <a:t>present actionable</a:t>
            </a:r>
            <a:r>
              <a:rPr sz="1800" spc="-40" dirty="0">
                <a:solidFill>
                  <a:srgbClr val="252525"/>
                </a:solidFill>
                <a:latin typeface="Calibri"/>
                <a:cs typeface="Calibri"/>
              </a:rPr>
              <a:t> </a:t>
            </a:r>
            <a:r>
              <a:rPr sz="1800" spc="-55" dirty="0">
                <a:solidFill>
                  <a:srgbClr val="252525"/>
                </a:solidFill>
                <a:latin typeface="Calibri"/>
                <a:cs typeface="Calibri"/>
              </a:rPr>
              <a:t>insights</a:t>
            </a:r>
            <a:r>
              <a:rPr sz="1800" spc="-60" dirty="0">
                <a:solidFill>
                  <a:srgbClr val="252525"/>
                </a:solidFill>
                <a:latin typeface="Calibri"/>
                <a:cs typeface="Calibri"/>
              </a:rPr>
              <a:t> </a:t>
            </a:r>
            <a:r>
              <a:rPr sz="1800" spc="-55" dirty="0">
                <a:solidFill>
                  <a:srgbClr val="252525"/>
                </a:solidFill>
                <a:latin typeface="Calibri"/>
                <a:cs typeface="Calibri"/>
              </a:rPr>
              <a:t>about </a:t>
            </a:r>
            <a:r>
              <a:rPr sz="1800" spc="-25" dirty="0">
                <a:solidFill>
                  <a:srgbClr val="252525"/>
                </a:solidFill>
                <a:latin typeface="Calibri"/>
                <a:cs typeface="Calibri"/>
              </a:rPr>
              <a:t>the </a:t>
            </a:r>
            <a:r>
              <a:rPr sz="1800" spc="-60" dirty="0">
                <a:solidFill>
                  <a:srgbClr val="252525"/>
                </a:solidFill>
                <a:latin typeface="Calibri"/>
                <a:cs typeface="Calibri"/>
              </a:rPr>
              <a:t>current</a:t>
            </a:r>
            <a:r>
              <a:rPr sz="1800" spc="-70" dirty="0">
                <a:solidFill>
                  <a:srgbClr val="252525"/>
                </a:solidFill>
                <a:latin typeface="Calibri"/>
                <a:cs typeface="Calibri"/>
              </a:rPr>
              <a:t> </a:t>
            </a:r>
            <a:r>
              <a:rPr sz="1800" spc="-45" dirty="0">
                <a:solidFill>
                  <a:srgbClr val="252525"/>
                </a:solidFill>
                <a:latin typeface="Calibri"/>
                <a:cs typeface="Calibri"/>
              </a:rPr>
              <a:t>and</a:t>
            </a:r>
            <a:r>
              <a:rPr sz="1800" spc="-65" dirty="0">
                <a:solidFill>
                  <a:srgbClr val="252525"/>
                </a:solidFill>
                <a:latin typeface="Calibri"/>
                <a:cs typeface="Calibri"/>
              </a:rPr>
              <a:t> </a:t>
            </a:r>
            <a:r>
              <a:rPr sz="1800" spc="-60" dirty="0">
                <a:solidFill>
                  <a:srgbClr val="252525"/>
                </a:solidFill>
                <a:latin typeface="Calibri"/>
                <a:cs typeface="Calibri"/>
              </a:rPr>
              <a:t>future</a:t>
            </a:r>
            <a:r>
              <a:rPr sz="1800" spc="-75" dirty="0">
                <a:solidFill>
                  <a:srgbClr val="252525"/>
                </a:solidFill>
                <a:latin typeface="Calibri"/>
                <a:cs typeface="Calibri"/>
              </a:rPr>
              <a:t> </a:t>
            </a:r>
            <a:r>
              <a:rPr sz="1800" spc="-70" dirty="0">
                <a:solidFill>
                  <a:srgbClr val="252525"/>
                </a:solidFill>
                <a:latin typeface="Calibri"/>
                <a:cs typeface="Calibri"/>
              </a:rPr>
              <a:t>state</a:t>
            </a:r>
            <a:r>
              <a:rPr sz="1800" spc="-75" dirty="0">
                <a:solidFill>
                  <a:srgbClr val="252525"/>
                </a:solidFill>
                <a:latin typeface="Calibri"/>
                <a:cs typeface="Calibri"/>
              </a:rPr>
              <a:t> </a:t>
            </a:r>
            <a:r>
              <a:rPr sz="1800" spc="-35" dirty="0">
                <a:solidFill>
                  <a:srgbClr val="252525"/>
                </a:solidFill>
                <a:latin typeface="Calibri"/>
                <a:cs typeface="Calibri"/>
              </a:rPr>
              <a:t>of</a:t>
            </a:r>
            <a:r>
              <a:rPr sz="1800" spc="-60" dirty="0">
                <a:solidFill>
                  <a:srgbClr val="252525"/>
                </a:solidFill>
                <a:latin typeface="Calibri"/>
                <a:cs typeface="Calibri"/>
              </a:rPr>
              <a:t> technology</a:t>
            </a:r>
            <a:r>
              <a:rPr sz="1800" spc="-65" dirty="0">
                <a:solidFill>
                  <a:srgbClr val="252525"/>
                </a:solidFill>
                <a:latin typeface="Calibri"/>
                <a:cs typeface="Calibri"/>
              </a:rPr>
              <a:t> </a:t>
            </a:r>
            <a:r>
              <a:rPr sz="1800" spc="-60" dirty="0">
                <a:solidFill>
                  <a:srgbClr val="252525"/>
                </a:solidFill>
                <a:latin typeface="Calibri"/>
                <a:cs typeface="Calibri"/>
              </a:rPr>
              <a:t>adoption</a:t>
            </a:r>
            <a:r>
              <a:rPr sz="1800" spc="-65" dirty="0">
                <a:solidFill>
                  <a:srgbClr val="252525"/>
                </a:solidFill>
                <a:latin typeface="Calibri"/>
                <a:cs typeface="Calibri"/>
              </a:rPr>
              <a:t> </a:t>
            </a:r>
            <a:r>
              <a:rPr sz="1800" spc="-40" dirty="0">
                <a:solidFill>
                  <a:srgbClr val="252525"/>
                </a:solidFill>
                <a:latin typeface="Calibri"/>
                <a:cs typeface="Calibri"/>
              </a:rPr>
              <a:t>in</a:t>
            </a:r>
            <a:r>
              <a:rPr sz="1800" spc="-45" dirty="0">
                <a:solidFill>
                  <a:srgbClr val="252525"/>
                </a:solidFill>
                <a:latin typeface="Calibri"/>
                <a:cs typeface="Calibri"/>
              </a:rPr>
              <a:t> the</a:t>
            </a:r>
            <a:r>
              <a:rPr sz="1800" spc="-65" dirty="0">
                <a:solidFill>
                  <a:srgbClr val="252525"/>
                </a:solidFill>
                <a:latin typeface="Calibri"/>
                <a:cs typeface="Calibri"/>
              </a:rPr>
              <a:t> </a:t>
            </a:r>
            <a:r>
              <a:rPr sz="1800" spc="-25" dirty="0">
                <a:solidFill>
                  <a:srgbClr val="252525"/>
                </a:solidFill>
                <a:latin typeface="Calibri"/>
                <a:cs typeface="Calibri"/>
              </a:rPr>
              <a:t>developer </a:t>
            </a:r>
            <a:r>
              <a:rPr sz="1800" spc="-10" dirty="0">
                <a:solidFill>
                  <a:srgbClr val="252525"/>
                </a:solidFill>
                <a:latin typeface="Calibri"/>
                <a:cs typeface="Calibri"/>
              </a:rPr>
              <a:t>community.</a:t>
            </a:r>
            <a:endParaRPr sz="18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7600" y="914400"/>
            <a:ext cx="3422015" cy="504625"/>
          </a:xfrm>
          <a:prstGeom prst="rect">
            <a:avLst/>
          </a:prstGeom>
        </p:spPr>
        <p:txBody>
          <a:bodyPr vert="horz" wrap="square" lIns="0" tIns="12065" rIns="0" bIns="0" rtlCol="0">
            <a:spAutoFit/>
          </a:bodyPr>
          <a:lstStyle/>
          <a:p>
            <a:pPr marL="12700">
              <a:lnSpc>
                <a:spcPct val="100000"/>
              </a:lnSpc>
              <a:spcBef>
                <a:spcPts val="95"/>
              </a:spcBef>
            </a:pPr>
            <a:r>
              <a:rPr sz="3200" spc="-10" dirty="0"/>
              <a:t>METHODOLOGY</a:t>
            </a:r>
          </a:p>
        </p:txBody>
      </p:sp>
      <p:sp>
        <p:nvSpPr>
          <p:cNvPr id="3" name="object 3"/>
          <p:cNvSpPr txBox="1"/>
          <p:nvPr/>
        </p:nvSpPr>
        <p:spPr>
          <a:xfrm>
            <a:off x="860856" y="1544827"/>
            <a:ext cx="10359467" cy="3650358"/>
          </a:xfrm>
          <a:prstGeom prst="rect">
            <a:avLst/>
          </a:prstGeom>
        </p:spPr>
        <p:txBody>
          <a:bodyPr vert="horz" wrap="square" lIns="0" tIns="48895" rIns="0" bIns="0" rtlCol="0">
            <a:spAutoFit/>
          </a:bodyPr>
          <a:lstStyle/>
          <a:p>
            <a:pPr marL="285750" indent="-285750">
              <a:buFont typeface="Arial" panose="020B0604020202020204" pitchFamily="34" charset="0"/>
              <a:buChar char="•"/>
            </a:pPr>
            <a:r>
              <a:rPr lang="en-US" sz="1800" dirty="0"/>
              <a:t>The Stack Overflow Developer Survey provides comprehensive insights into technologies currently used by developers worldwide, as well as the tools they aspire to adopt in the future.</a:t>
            </a:r>
          </a:p>
          <a:p>
            <a:endParaRPr lang="en-US" sz="1800" dirty="0" smtClean="0"/>
          </a:p>
          <a:p>
            <a:pPr marL="285750" indent="-285750">
              <a:buFont typeface="Arial" panose="020B0604020202020204" pitchFamily="34" charset="0"/>
              <a:buChar char="•"/>
            </a:pPr>
            <a:r>
              <a:rPr lang="en-US" sz="1800" dirty="0" smtClean="0"/>
              <a:t>This </a:t>
            </a:r>
            <a:r>
              <a:rPr lang="en-US" sz="1800" dirty="0"/>
              <a:t>project aims to analyze global trends within the developer ecosystem, identify patterns in technology preferences, and explore potential relationships between developer demographics and their tool choices.</a:t>
            </a:r>
          </a:p>
          <a:p>
            <a:endParaRPr lang="en-US" sz="1800" dirty="0" smtClean="0"/>
          </a:p>
          <a:p>
            <a:pPr marL="285750" indent="-285750">
              <a:buFont typeface="Arial" panose="020B0604020202020204" pitchFamily="34" charset="0"/>
              <a:buChar char="•"/>
            </a:pPr>
            <a:r>
              <a:rPr lang="en-US" sz="1800" dirty="0" smtClean="0"/>
              <a:t>The </a:t>
            </a:r>
            <a:r>
              <a:rPr lang="en-US" sz="1800" dirty="0"/>
              <a:t>dataset has been carefully filtered and pre-processed to ensure accuracy, consistency, and reliability of the analysis.</a:t>
            </a:r>
          </a:p>
          <a:p>
            <a:endParaRPr lang="en-US" sz="1800" dirty="0" smtClean="0"/>
          </a:p>
          <a:p>
            <a:pPr marL="285750" indent="-285750">
              <a:buFont typeface="Arial" panose="020B0604020202020204" pitchFamily="34" charset="0"/>
              <a:buChar char="•"/>
            </a:pPr>
            <a:r>
              <a:rPr lang="en-US" sz="1800" dirty="0" smtClean="0"/>
              <a:t>The </a:t>
            </a:r>
            <a:r>
              <a:rPr lang="en-US" sz="1800" dirty="0"/>
              <a:t>study integrates data wrangling, exploratory data analysis, and visualization techniques to generate actionable insights into both current and emerging technology adoption trends within the developer community</a:t>
            </a:r>
            <a:r>
              <a:rPr lang="en-US" sz="1800" dirty="0" smtClean="0"/>
              <a: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53000" y="914400"/>
            <a:ext cx="1788795" cy="504625"/>
          </a:xfrm>
          <a:prstGeom prst="rect">
            <a:avLst/>
          </a:prstGeom>
        </p:spPr>
        <p:txBody>
          <a:bodyPr vert="horz" wrap="square" lIns="0" tIns="12065" rIns="0" bIns="0" rtlCol="0">
            <a:spAutoFit/>
          </a:bodyPr>
          <a:lstStyle/>
          <a:p>
            <a:pPr marL="12700">
              <a:lnSpc>
                <a:spcPct val="100000"/>
              </a:lnSpc>
              <a:spcBef>
                <a:spcPts val="95"/>
              </a:spcBef>
            </a:pPr>
            <a:r>
              <a:rPr sz="3200" spc="-45" dirty="0"/>
              <a:t>RESULTS</a:t>
            </a:r>
          </a:p>
        </p:txBody>
      </p:sp>
      <p:sp>
        <p:nvSpPr>
          <p:cNvPr id="4" name="object 3"/>
          <p:cNvSpPr txBox="1"/>
          <p:nvPr/>
        </p:nvSpPr>
        <p:spPr>
          <a:xfrm>
            <a:off x="860856" y="2514600"/>
            <a:ext cx="10359467" cy="2265364"/>
          </a:xfrm>
          <a:prstGeom prst="rect">
            <a:avLst/>
          </a:prstGeom>
        </p:spPr>
        <p:txBody>
          <a:bodyPr vert="horz" wrap="square" lIns="0" tIns="48895" rIns="0" bIns="0" rtlCol="0">
            <a:spAutoFit/>
          </a:bodyPr>
          <a:lstStyle/>
          <a:p>
            <a:r>
              <a:rPr lang="en-US" dirty="0" smtClean="0"/>
              <a:t>The analysis reveals clear trends in both current and future technology usage among developers. While widely used programming languages and tools remain dominant, there is a growing interest in modern, scalable, and cloud-based technologies.</a:t>
            </a:r>
          </a:p>
          <a:p>
            <a:endParaRPr lang="en-US" dirty="0" smtClean="0"/>
          </a:p>
          <a:p>
            <a:r>
              <a:rPr lang="en-US" dirty="0" smtClean="0"/>
              <a:t>The visualizations further highlight variations in preferences across different regions and experience levels, suggesting that demographic factors influence technology adoption. Overall, the results indicate a gradual shift toward emerging technologies within the developer ecosystem.</a:t>
            </a:r>
          </a:p>
          <a:p>
            <a:r>
              <a:rPr lang="en-US" dirty="0" smtClean="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780914" y="781406"/>
            <a:ext cx="5468122" cy="504625"/>
          </a:xfrm>
          <a:prstGeom prst="rect">
            <a:avLst/>
          </a:prstGeom>
        </p:spPr>
        <p:txBody>
          <a:bodyPr vert="horz" wrap="square" lIns="0" tIns="12065" rIns="0" bIns="0" rtlCol="0">
            <a:spAutoFit/>
          </a:bodyPr>
          <a:lstStyle/>
          <a:p>
            <a:pPr marL="12700">
              <a:lnSpc>
                <a:spcPct val="100000"/>
              </a:lnSpc>
              <a:spcBef>
                <a:spcPts val="95"/>
              </a:spcBef>
            </a:pPr>
            <a:r>
              <a:rPr lang="en-US" sz="3200" spc="-10" dirty="0"/>
              <a:t>Programming Language Trends</a:t>
            </a:r>
            <a:endParaRPr sz="3200" spc="-10" dirty="0"/>
          </a:p>
        </p:txBody>
      </p:sp>
      <p:sp>
        <p:nvSpPr>
          <p:cNvPr id="3" name="object 3"/>
          <p:cNvSpPr txBox="1"/>
          <p:nvPr/>
        </p:nvSpPr>
        <p:spPr>
          <a:xfrm>
            <a:off x="2105660" y="1602993"/>
            <a:ext cx="1318895" cy="452120"/>
          </a:xfrm>
          <a:prstGeom prst="rect">
            <a:avLst/>
          </a:prstGeom>
        </p:spPr>
        <p:txBody>
          <a:bodyPr vert="horz" wrap="square" lIns="0" tIns="12065" rIns="0" bIns="0" rtlCol="0">
            <a:spAutoFit/>
          </a:bodyPr>
          <a:lstStyle/>
          <a:p>
            <a:pPr marL="12700">
              <a:lnSpc>
                <a:spcPct val="100000"/>
              </a:lnSpc>
              <a:spcBef>
                <a:spcPts val="95"/>
              </a:spcBef>
            </a:pPr>
            <a:r>
              <a:rPr sz="2800" spc="-85" dirty="0">
                <a:solidFill>
                  <a:srgbClr val="252525"/>
                </a:solidFill>
                <a:latin typeface="Calibri"/>
                <a:cs typeface="Calibri"/>
              </a:rPr>
              <a:t>Next</a:t>
            </a:r>
            <a:r>
              <a:rPr sz="2800" spc="-130" dirty="0">
                <a:solidFill>
                  <a:srgbClr val="252525"/>
                </a:solidFill>
                <a:latin typeface="Calibri"/>
                <a:cs typeface="Calibri"/>
              </a:rPr>
              <a:t> </a:t>
            </a:r>
            <a:r>
              <a:rPr sz="2800" spc="-95" dirty="0">
                <a:solidFill>
                  <a:srgbClr val="252525"/>
                </a:solidFill>
                <a:latin typeface="Calibri"/>
                <a:cs typeface="Calibri"/>
              </a:rPr>
              <a:t>Year</a:t>
            </a:r>
            <a:endParaRPr sz="2800">
              <a:latin typeface="Calibri"/>
              <a:cs typeface="Calibri"/>
            </a:endParaRPr>
          </a:p>
        </p:txBody>
      </p:sp>
      <p:pic>
        <p:nvPicPr>
          <p:cNvPr id="4" name="object 4"/>
          <p:cNvPicPr/>
          <p:nvPr/>
        </p:nvPicPr>
        <p:blipFill>
          <a:blip r:embed="rId2" cstate="print"/>
          <a:stretch>
            <a:fillRect/>
          </a:stretch>
        </p:blipFill>
        <p:spPr>
          <a:xfrm>
            <a:off x="1822450" y="2184412"/>
            <a:ext cx="7385050" cy="39154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962275" y="928512"/>
            <a:ext cx="5334000" cy="504625"/>
          </a:xfrm>
          <a:prstGeom prst="rect">
            <a:avLst/>
          </a:prstGeom>
        </p:spPr>
        <p:txBody>
          <a:bodyPr vert="horz" wrap="square" lIns="0" tIns="12065" rIns="0" bIns="0" rtlCol="0">
            <a:spAutoFit/>
          </a:bodyPr>
          <a:lstStyle/>
          <a:p>
            <a:pPr marL="12700">
              <a:lnSpc>
                <a:spcPct val="100000"/>
              </a:lnSpc>
              <a:spcBef>
                <a:spcPts val="95"/>
              </a:spcBef>
            </a:pPr>
            <a:r>
              <a:rPr lang="en-US" sz="3200" spc="-10" dirty="0" smtClean="0"/>
              <a:t>Programming Language Trends</a:t>
            </a:r>
            <a:endParaRPr sz="3200" spc="-10" dirty="0"/>
          </a:p>
        </p:txBody>
      </p:sp>
      <p:sp>
        <p:nvSpPr>
          <p:cNvPr id="3" name="object 3"/>
          <p:cNvSpPr txBox="1"/>
          <p:nvPr/>
        </p:nvSpPr>
        <p:spPr>
          <a:xfrm>
            <a:off x="2105660" y="1602993"/>
            <a:ext cx="1711960" cy="452120"/>
          </a:xfrm>
          <a:prstGeom prst="rect">
            <a:avLst/>
          </a:prstGeom>
        </p:spPr>
        <p:txBody>
          <a:bodyPr vert="horz" wrap="square" lIns="0" tIns="12065" rIns="0" bIns="0" rtlCol="0">
            <a:spAutoFit/>
          </a:bodyPr>
          <a:lstStyle/>
          <a:p>
            <a:pPr marL="12700">
              <a:lnSpc>
                <a:spcPct val="100000"/>
              </a:lnSpc>
              <a:spcBef>
                <a:spcPts val="95"/>
              </a:spcBef>
            </a:pPr>
            <a:r>
              <a:rPr sz="2800" spc="-95" dirty="0">
                <a:solidFill>
                  <a:srgbClr val="252525"/>
                </a:solidFill>
                <a:latin typeface="Calibri"/>
                <a:cs typeface="Calibri"/>
              </a:rPr>
              <a:t>Current </a:t>
            </a:r>
            <a:r>
              <a:rPr sz="2800" spc="-90" dirty="0">
                <a:solidFill>
                  <a:srgbClr val="252525"/>
                </a:solidFill>
                <a:latin typeface="Calibri"/>
                <a:cs typeface="Calibri"/>
              </a:rPr>
              <a:t>Year</a:t>
            </a:r>
            <a:endParaRPr sz="2800">
              <a:latin typeface="Calibri"/>
              <a:cs typeface="Calibri"/>
            </a:endParaRPr>
          </a:p>
        </p:txBody>
      </p:sp>
      <p:pic>
        <p:nvPicPr>
          <p:cNvPr id="4" name="object 4"/>
          <p:cNvPicPr/>
          <p:nvPr/>
        </p:nvPicPr>
        <p:blipFill>
          <a:blip r:embed="rId2" cstate="print"/>
          <a:stretch>
            <a:fillRect/>
          </a:stretch>
        </p:blipFill>
        <p:spPr>
          <a:xfrm>
            <a:off x="1885950" y="2217712"/>
            <a:ext cx="7486650" cy="39958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7016" y="546861"/>
            <a:ext cx="10029393" cy="656077"/>
          </a:xfrm>
          <a:prstGeom prst="rect">
            <a:avLst/>
          </a:prstGeom>
        </p:spPr>
        <p:txBody>
          <a:bodyPr vert="horz" wrap="square" lIns="0" tIns="223012" rIns="0" bIns="0" rtlCol="0">
            <a:spAutoFit/>
          </a:bodyPr>
          <a:lstStyle/>
          <a:p>
            <a:pPr marL="312420">
              <a:lnSpc>
                <a:spcPct val="100000"/>
              </a:lnSpc>
              <a:spcBef>
                <a:spcPts val="95"/>
              </a:spcBef>
            </a:pPr>
            <a:r>
              <a:rPr lang="en-US" sz="2800" dirty="0"/>
              <a:t>Programming Language Trends: Findings and Implications</a:t>
            </a:r>
            <a:endParaRPr sz="2800" dirty="0"/>
          </a:p>
        </p:txBody>
      </p:sp>
      <p:sp>
        <p:nvSpPr>
          <p:cNvPr id="5" name="object 5"/>
          <p:cNvSpPr txBox="1"/>
          <p:nvPr/>
        </p:nvSpPr>
        <p:spPr>
          <a:xfrm>
            <a:off x="838200" y="1905000"/>
            <a:ext cx="10387838" cy="3641381"/>
          </a:xfrm>
          <a:prstGeom prst="rect">
            <a:avLst/>
          </a:prstGeom>
        </p:spPr>
        <p:txBody>
          <a:bodyPr vert="horz" wrap="square" lIns="0" tIns="40005" rIns="0" bIns="0" rtlCol="0">
            <a:spAutoFit/>
          </a:bodyPr>
          <a:lstStyle/>
          <a:p>
            <a:endParaRPr lang="en-US" b="1" dirty="0" smtClean="0"/>
          </a:p>
          <a:p>
            <a:r>
              <a:rPr lang="en-US" b="1" dirty="0" smtClean="0"/>
              <a:t>Findings</a:t>
            </a:r>
          </a:p>
          <a:p>
            <a:pPr marL="285750" indent="-285750">
              <a:buFont typeface="Arial" panose="020B0604020202020204" pitchFamily="34" charset="0"/>
              <a:buChar char="•"/>
            </a:pPr>
            <a:r>
              <a:rPr lang="en-US" dirty="0" smtClean="0"/>
              <a:t>JavaScript, HTML/CSS, and </a:t>
            </a:r>
            <a:r>
              <a:rPr lang="en-US" dirty="0" err="1" smtClean="0"/>
              <a:t>TypeScript</a:t>
            </a:r>
            <a:r>
              <a:rPr lang="en-US" dirty="0" smtClean="0"/>
              <a:t> remain the most dominant programming languages across both current and future usage. </a:t>
            </a:r>
          </a:p>
          <a:p>
            <a:pPr marL="285750" indent="-285750">
              <a:buFont typeface="Arial" panose="020B0604020202020204" pitchFamily="34" charset="0"/>
              <a:buChar char="•"/>
            </a:pPr>
            <a:r>
              <a:rPr lang="en-US" dirty="0" smtClean="0"/>
              <a:t>C# shows a notable increase in preference, indicating growing developer interest for future adoption. </a:t>
            </a:r>
          </a:p>
          <a:p>
            <a:pPr marL="285750" indent="-285750">
              <a:buFont typeface="Arial" panose="020B0604020202020204" pitchFamily="34" charset="0"/>
              <a:buChar char="•"/>
            </a:pPr>
            <a:r>
              <a:rPr lang="en-US" dirty="0" smtClean="0"/>
              <a:t>SQL and Python demonstrate consistent and stable demand across both periods. </a:t>
            </a:r>
          </a:p>
          <a:p>
            <a:endParaRPr lang="en-US" dirty="0" smtClean="0"/>
          </a:p>
          <a:p>
            <a:r>
              <a:rPr lang="en-US" b="1" dirty="0" smtClean="0"/>
              <a:t>Implications</a:t>
            </a:r>
          </a:p>
          <a:p>
            <a:pPr marL="285750" indent="-285750">
              <a:buFont typeface="Arial" panose="020B0604020202020204" pitchFamily="34" charset="0"/>
              <a:buChar char="•"/>
            </a:pPr>
            <a:r>
              <a:rPr lang="en-US" dirty="0" smtClean="0"/>
              <a:t>Current trends show developers working with multiple languages simultaneously, whereas future preferences suggest a shift toward specializing in fewer, high-impact technologies. </a:t>
            </a:r>
          </a:p>
          <a:p>
            <a:pPr marL="285750" indent="-285750">
              <a:buFont typeface="Arial" panose="020B0604020202020204" pitchFamily="34" charset="0"/>
              <a:buChar char="•"/>
            </a:pPr>
            <a:r>
              <a:rPr lang="en-US" dirty="0" smtClean="0"/>
              <a:t>Developers and students are encouraged to upskill in in-demand languages such as C# and SQL to enhance career opportunities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003356" y="914400"/>
            <a:ext cx="4036061" cy="504625"/>
          </a:xfrm>
          <a:prstGeom prst="rect">
            <a:avLst/>
          </a:prstGeom>
        </p:spPr>
        <p:txBody>
          <a:bodyPr vert="horz" wrap="square" lIns="0" tIns="12065" rIns="0" bIns="0" rtlCol="0">
            <a:spAutoFit/>
          </a:bodyPr>
          <a:lstStyle/>
          <a:p>
            <a:pPr marL="12700">
              <a:lnSpc>
                <a:spcPct val="100000"/>
              </a:lnSpc>
              <a:spcBef>
                <a:spcPts val="95"/>
              </a:spcBef>
            </a:pPr>
            <a:r>
              <a:rPr lang="en-US" sz="3200" spc="-105" dirty="0" smtClean="0"/>
              <a:t>Database Trends</a:t>
            </a:r>
            <a:endParaRPr sz="3200" spc="-10" dirty="0"/>
          </a:p>
        </p:txBody>
      </p:sp>
      <p:sp>
        <p:nvSpPr>
          <p:cNvPr id="3" name="object 3"/>
          <p:cNvSpPr txBox="1"/>
          <p:nvPr/>
        </p:nvSpPr>
        <p:spPr>
          <a:xfrm>
            <a:off x="2105660" y="1602993"/>
            <a:ext cx="1318895" cy="452120"/>
          </a:xfrm>
          <a:prstGeom prst="rect">
            <a:avLst/>
          </a:prstGeom>
        </p:spPr>
        <p:txBody>
          <a:bodyPr vert="horz" wrap="square" lIns="0" tIns="12065" rIns="0" bIns="0" rtlCol="0">
            <a:spAutoFit/>
          </a:bodyPr>
          <a:lstStyle/>
          <a:p>
            <a:pPr marL="12700">
              <a:lnSpc>
                <a:spcPct val="100000"/>
              </a:lnSpc>
              <a:spcBef>
                <a:spcPts val="95"/>
              </a:spcBef>
            </a:pPr>
            <a:r>
              <a:rPr sz="2800" spc="-85" dirty="0">
                <a:solidFill>
                  <a:srgbClr val="252525"/>
                </a:solidFill>
                <a:latin typeface="Calibri"/>
                <a:cs typeface="Calibri"/>
              </a:rPr>
              <a:t>Next</a:t>
            </a:r>
            <a:r>
              <a:rPr sz="2800" spc="-130" dirty="0">
                <a:solidFill>
                  <a:srgbClr val="252525"/>
                </a:solidFill>
                <a:latin typeface="Calibri"/>
                <a:cs typeface="Calibri"/>
              </a:rPr>
              <a:t> </a:t>
            </a:r>
            <a:r>
              <a:rPr sz="2800" spc="-95" dirty="0">
                <a:solidFill>
                  <a:srgbClr val="252525"/>
                </a:solidFill>
                <a:latin typeface="Calibri"/>
                <a:cs typeface="Calibri"/>
              </a:rPr>
              <a:t>Year</a:t>
            </a:r>
            <a:endParaRPr sz="2800">
              <a:latin typeface="Calibri"/>
              <a:cs typeface="Calibri"/>
            </a:endParaRPr>
          </a:p>
        </p:txBody>
      </p:sp>
      <p:pic>
        <p:nvPicPr>
          <p:cNvPr id="4" name="object 4"/>
          <p:cNvPicPr/>
          <p:nvPr/>
        </p:nvPicPr>
        <p:blipFill>
          <a:blip r:embed="rId2" cstate="print"/>
          <a:stretch>
            <a:fillRect/>
          </a:stretch>
        </p:blipFill>
        <p:spPr>
          <a:xfrm>
            <a:off x="2028825" y="2017687"/>
            <a:ext cx="7985125" cy="429374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267200" y="762000"/>
            <a:ext cx="3883661" cy="635000"/>
          </a:xfrm>
          <a:prstGeom prst="rect">
            <a:avLst/>
          </a:prstGeom>
        </p:spPr>
        <p:txBody>
          <a:bodyPr vert="horz" wrap="square" lIns="0" tIns="12065" rIns="0" bIns="0" rtlCol="0">
            <a:spAutoFit/>
          </a:bodyPr>
          <a:lstStyle/>
          <a:p>
            <a:pPr marL="12700">
              <a:lnSpc>
                <a:spcPct val="100000"/>
              </a:lnSpc>
              <a:spcBef>
                <a:spcPts val="95"/>
              </a:spcBef>
            </a:pPr>
            <a:r>
              <a:rPr lang="en-US" spc="-105" dirty="0"/>
              <a:t>Database Trends</a:t>
            </a:r>
            <a:endParaRPr spc="-10" dirty="0"/>
          </a:p>
        </p:txBody>
      </p:sp>
      <p:sp>
        <p:nvSpPr>
          <p:cNvPr id="3" name="object 3"/>
          <p:cNvSpPr txBox="1"/>
          <p:nvPr/>
        </p:nvSpPr>
        <p:spPr>
          <a:xfrm>
            <a:off x="2105660" y="1602993"/>
            <a:ext cx="1711960" cy="452120"/>
          </a:xfrm>
          <a:prstGeom prst="rect">
            <a:avLst/>
          </a:prstGeom>
        </p:spPr>
        <p:txBody>
          <a:bodyPr vert="horz" wrap="square" lIns="0" tIns="12065" rIns="0" bIns="0" rtlCol="0">
            <a:spAutoFit/>
          </a:bodyPr>
          <a:lstStyle/>
          <a:p>
            <a:pPr marL="12700">
              <a:lnSpc>
                <a:spcPct val="100000"/>
              </a:lnSpc>
              <a:spcBef>
                <a:spcPts val="95"/>
              </a:spcBef>
            </a:pPr>
            <a:r>
              <a:rPr sz="2800" spc="-95" dirty="0">
                <a:solidFill>
                  <a:srgbClr val="252525"/>
                </a:solidFill>
                <a:latin typeface="Calibri"/>
                <a:cs typeface="Calibri"/>
              </a:rPr>
              <a:t>Current </a:t>
            </a:r>
            <a:r>
              <a:rPr sz="2800" spc="-90" dirty="0">
                <a:solidFill>
                  <a:srgbClr val="252525"/>
                </a:solidFill>
                <a:latin typeface="Calibri"/>
                <a:cs typeface="Calibri"/>
              </a:rPr>
              <a:t>Year</a:t>
            </a:r>
            <a:endParaRPr sz="2800">
              <a:latin typeface="Calibri"/>
              <a:cs typeface="Calibri"/>
            </a:endParaRPr>
          </a:p>
        </p:txBody>
      </p:sp>
      <p:pic>
        <p:nvPicPr>
          <p:cNvPr id="4" name="object 4"/>
          <p:cNvPicPr/>
          <p:nvPr/>
        </p:nvPicPr>
        <p:blipFill>
          <a:blip r:embed="rId2" cstate="print"/>
          <a:stretch>
            <a:fillRect/>
          </a:stretch>
        </p:blipFill>
        <p:spPr>
          <a:xfrm>
            <a:off x="2020951" y="2098700"/>
            <a:ext cx="7415149" cy="39899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2554" y="685800"/>
            <a:ext cx="10029393" cy="1086964"/>
          </a:xfrm>
          <a:prstGeom prst="rect">
            <a:avLst/>
          </a:prstGeom>
        </p:spPr>
        <p:txBody>
          <a:bodyPr vert="horz" wrap="square" lIns="0" tIns="223012" rIns="0" bIns="0" rtlCol="0">
            <a:spAutoFit/>
          </a:bodyPr>
          <a:lstStyle/>
          <a:p>
            <a:r>
              <a:rPr lang="en-US" sz="2800" dirty="0"/>
              <a:t>Database Trends: Findings and Implications</a:t>
            </a:r>
            <a:br>
              <a:rPr lang="en-US" sz="2800" dirty="0"/>
            </a:br>
            <a:endParaRPr lang="en-US" sz="2800" dirty="0"/>
          </a:p>
        </p:txBody>
      </p:sp>
      <p:sp>
        <p:nvSpPr>
          <p:cNvPr id="3" name="object 3"/>
          <p:cNvSpPr txBox="1"/>
          <p:nvPr/>
        </p:nvSpPr>
        <p:spPr>
          <a:xfrm>
            <a:off x="990600" y="1676400"/>
            <a:ext cx="10287000" cy="4199226"/>
          </a:xfrm>
          <a:prstGeom prst="rect">
            <a:avLst/>
          </a:prstGeom>
        </p:spPr>
        <p:txBody>
          <a:bodyPr vert="horz" wrap="square" lIns="0" tIns="43815" rIns="0" bIns="0" rtlCol="0">
            <a:spAutoFit/>
          </a:bodyPr>
          <a:lstStyle/>
          <a:p>
            <a:r>
              <a:rPr lang="en-US" sz="1800" b="1" dirty="0" smtClean="0"/>
              <a:t>Findings</a:t>
            </a:r>
            <a:endParaRPr lang="en-US" sz="1800" b="1" dirty="0"/>
          </a:p>
          <a:p>
            <a:pPr marL="285750" indent="-285750">
              <a:buFont typeface="Arial" panose="020B0604020202020204" pitchFamily="34" charset="0"/>
              <a:buChar char="•"/>
            </a:pPr>
            <a:r>
              <a:rPr lang="en-US" sz="1800" dirty="0"/>
              <a:t>PostgreSQL shows increased dominance, reflecting growing developer preference.</a:t>
            </a:r>
          </a:p>
          <a:p>
            <a:pPr marL="285750" indent="-285750">
              <a:buFont typeface="Arial" panose="020B0604020202020204" pitchFamily="34" charset="0"/>
              <a:buChar char="•"/>
            </a:pPr>
            <a:r>
              <a:rPr lang="en-US" sz="1800" dirty="0"/>
              <a:t>Microsoft SQL Server remains widely used but demonstrates only modest growth.</a:t>
            </a:r>
          </a:p>
          <a:p>
            <a:pPr marL="285750" indent="-285750">
              <a:buFont typeface="Arial" panose="020B0604020202020204" pitchFamily="34" charset="0"/>
              <a:buChar char="•"/>
            </a:pPr>
            <a:r>
              <a:rPr lang="en-US" sz="1800" dirty="0"/>
              <a:t>SQLite gains significant interest, emerging among the top databases for future use, which highlights demand for lightweight and embedded solutions.</a:t>
            </a:r>
          </a:p>
          <a:p>
            <a:pPr marL="285750" indent="-285750">
              <a:buFont typeface="Arial" panose="020B0604020202020204" pitchFamily="34" charset="0"/>
              <a:buChar char="•"/>
            </a:pPr>
            <a:r>
              <a:rPr lang="en-US" sz="1800" dirty="0"/>
              <a:t>MongoDB and other NoSQL databases, alongside tools like </a:t>
            </a:r>
            <a:r>
              <a:rPr lang="en-US" sz="1800" dirty="0" err="1"/>
              <a:t>Redis</a:t>
            </a:r>
            <a:r>
              <a:rPr lang="en-US" sz="1800" dirty="0"/>
              <a:t>, are gaining traction within the developer community.</a:t>
            </a:r>
          </a:p>
          <a:p>
            <a:endParaRPr lang="en-US" sz="1800" dirty="0"/>
          </a:p>
          <a:p>
            <a:r>
              <a:rPr lang="en-US" sz="1800" b="1" dirty="0"/>
              <a:t>Implications</a:t>
            </a:r>
          </a:p>
          <a:p>
            <a:pPr marL="285750" indent="-285750">
              <a:buFont typeface="Arial" panose="020B0604020202020204" pitchFamily="34" charset="0"/>
              <a:buChar char="•"/>
            </a:pPr>
            <a:r>
              <a:rPr lang="en-US" sz="1800" dirty="0"/>
              <a:t>The rising popularity of SQLite suggests increased development of mobile and lightweight applications.</a:t>
            </a:r>
          </a:p>
          <a:p>
            <a:pPr marL="285750" indent="-285750">
              <a:buFont typeface="Arial" panose="020B0604020202020204" pitchFamily="34" charset="0"/>
              <a:buChar char="•"/>
            </a:pPr>
            <a:r>
              <a:rPr lang="en-US" sz="1800" dirty="0"/>
              <a:t>The growing adoption of MongoDB and </a:t>
            </a:r>
            <a:r>
              <a:rPr lang="en-US" sz="1800" dirty="0" err="1"/>
              <a:t>Redis</a:t>
            </a:r>
            <a:r>
              <a:rPr lang="en-US" sz="1800" dirty="0"/>
              <a:t> indicates a shift toward NoSQL and hybrid database architectures.</a:t>
            </a:r>
          </a:p>
          <a:p>
            <a:pPr marL="285750" indent="-285750">
              <a:buFont typeface="Arial" panose="020B0604020202020204" pitchFamily="34" charset="0"/>
              <a:buChar char="•"/>
            </a:pPr>
            <a:r>
              <a:rPr lang="en-US" sz="1800" dirty="0"/>
              <a:t>Developers are increasingly favoring flexible and scalable database solutions, signaling continued integration of NoSQL technologies in modern application development.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852321"/>
            <a:ext cx="6553200" cy="606833"/>
          </a:xfrm>
          <a:prstGeom prst="rect">
            <a:avLst/>
          </a:prstGeom>
        </p:spPr>
        <p:txBody>
          <a:bodyPr vert="horz" wrap="square" lIns="0" tIns="113284" rIns="0" bIns="0" rtlCol="0">
            <a:spAutoFit/>
          </a:bodyPr>
          <a:lstStyle/>
          <a:p>
            <a:pPr marL="312420">
              <a:lnSpc>
                <a:spcPct val="100000"/>
              </a:lnSpc>
              <a:spcBef>
                <a:spcPts val="95"/>
              </a:spcBef>
            </a:pPr>
            <a:r>
              <a:rPr sz="3200" dirty="0"/>
              <a:t>OVERALL</a:t>
            </a:r>
            <a:r>
              <a:rPr sz="3200" spc="-85" dirty="0"/>
              <a:t> </a:t>
            </a:r>
            <a:r>
              <a:rPr sz="3200" dirty="0"/>
              <a:t>FINDINGS</a:t>
            </a:r>
            <a:r>
              <a:rPr sz="3200" spc="-60" dirty="0"/>
              <a:t> </a:t>
            </a:r>
            <a:r>
              <a:rPr sz="3200" dirty="0"/>
              <a:t>&amp;</a:t>
            </a:r>
            <a:r>
              <a:rPr sz="3200" spc="-80" dirty="0"/>
              <a:t> </a:t>
            </a:r>
            <a:r>
              <a:rPr sz="3200" spc="-10" dirty="0"/>
              <a:t>IMPLICATIONS</a:t>
            </a:r>
          </a:p>
        </p:txBody>
      </p:sp>
      <p:sp>
        <p:nvSpPr>
          <p:cNvPr id="3" name="object 3"/>
          <p:cNvSpPr txBox="1"/>
          <p:nvPr/>
        </p:nvSpPr>
        <p:spPr>
          <a:xfrm>
            <a:off x="892555" y="2512898"/>
            <a:ext cx="4888865" cy="3315335"/>
          </a:xfrm>
          <a:prstGeom prst="rect">
            <a:avLst/>
          </a:prstGeom>
        </p:spPr>
        <p:txBody>
          <a:bodyPr vert="horz" wrap="square" lIns="0" tIns="67945" rIns="0" bIns="0" rtlCol="0">
            <a:spAutoFit/>
          </a:bodyPr>
          <a:lstStyle/>
          <a:p>
            <a:pPr marL="241300" marR="5080" indent="-228600">
              <a:lnSpc>
                <a:spcPct val="80000"/>
              </a:lnSpc>
              <a:spcBef>
                <a:spcPts val="535"/>
              </a:spcBef>
              <a:buFont typeface="Arial MT"/>
              <a:buChar char="•"/>
              <a:tabLst>
                <a:tab pos="241300" algn="l"/>
              </a:tabLst>
            </a:pPr>
            <a:r>
              <a:rPr sz="1800" spc="-65" dirty="0">
                <a:solidFill>
                  <a:srgbClr val="252525"/>
                </a:solidFill>
                <a:latin typeface="Calibri"/>
                <a:cs typeface="Calibri"/>
              </a:rPr>
              <a:t>PostgreSQL </a:t>
            </a:r>
            <a:r>
              <a:rPr sz="1800" spc="-35" dirty="0">
                <a:solidFill>
                  <a:srgbClr val="252525"/>
                </a:solidFill>
                <a:latin typeface="Calibri"/>
                <a:cs typeface="Calibri"/>
              </a:rPr>
              <a:t>is</a:t>
            </a:r>
            <a:r>
              <a:rPr sz="1800" spc="-60" dirty="0">
                <a:solidFill>
                  <a:srgbClr val="252525"/>
                </a:solidFill>
                <a:latin typeface="Calibri"/>
                <a:cs typeface="Calibri"/>
              </a:rPr>
              <a:t> becoming</a:t>
            </a:r>
            <a:r>
              <a:rPr sz="1800" spc="-45" dirty="0">
                <a:solidFill>
                  <a:srgbClr val="252525"/>
                </a:solidFill>
                <a:latin typeface="Calibri"/>
                <a:cs typeface="Calibri"/>
              </a:rPr>
              <a:t> the </a:t>
            </a:r>
            <a:r>
              <a:rPr sz="1800" spc="-55" dirty="0">
                <a:solidFill>
                  <a:srgbClr val="252525"/>
                </a:solidFill>
                <a:latin typeface="Calibri"/>
                <a:cs typeface="Calibri"/>
              </a:rPr>
              <a:t>dominant</a:t>
            </a:r>
            <a:r>
              <a:rPr sz="1800" spc="-70" dirty="0">
                <a:solidFill>
                  <a:srgbClr val="252525"/>
                </a:solidFill>
                <a:latin typeface="Calibri"/>
                <a:cs typeface="Calibri"/>
              </a:rPr>
              <a:t> </a:t>
            </a:r>
            <a:r>
              <a:rPr sz="1800" spc="-60" dirty="0">
                <a:solidFill>
                  <a:srgbClr val="252525"/>
                </a:solidFill>
                <a:latin typeface="Calibri"/>
                <a:cs typeface="Calibri"/>
              </a:rPr>
              <a:t>database,</a:t>
            </a:r>
            <a:r>
              <a:rPr sz="1800" spc="-80" dirty="0">
                <a:solidFill>
                  <a:srgbClr val="252525"/>
                </a:solidFill>
                <a:latin typeface="Calibri"/>
                <a:cs typeface="Calibri"/>
              </a:rPr>
              <a:t> </a:t>
            </a:r>
            <a:r>
              <a:rPr sz="1800" spc="-20" dirty="0">
                <a:solidFill>
                  <a:srgbClr val="252525"/>
                </a:solidFill>
                <a:latin typeface="Calibri"/>
                <a:cs typeface="Calibri"/>
              </a:rPr>
              <a:t>with </a:t>
            </a:r>
            <a:r>
              <a:rPr sz="1800" spc="-55" dirty="0">
                <a:solidFill>
                  <a:srgbClr val="252525"/>
                </a:solidFill>
                <a:latin typeface="Calibri"/>
                <a:cs typeface="Calibri"/>
              </a:rPr>
              <a:t>usage</a:t>
            </a:r>
            <a:r>
              <a:rPr sz="1800" spc="-75" dirty="0">
                <a:solidFill>
                  <a:srgbClr val="252525"/>
                </a:solidFill>
                <a:latin typeface="Calibri"/>
                <a:cs typeface="Calibri"/>
              </a:rPr>
              <a:t> </a:t>
            </a:r>
            <a:r>
              <a:rPr sz="1800" spc="-60" dirty="0">
                <a:solidFill>
                  <a:srgbClr val="252525"/>
                </a:solidFill>
                <a:latin typeface="Calibri"/>
                <a:cs typeface="Calibri"/>
              </a:rPr>
              <a:t>increasing</a:t>
            </a:r>
            <a:r>
              <a:rPr sz="1800" spc="-45" dirty="0">
                <a:solidFill>
                  <a:srgbClr val="252525"/>
                </a:solidFill>
                <a:latin typeface="Calibri"/>
                <a:cs typeface="Calibri"/>
              </a:rPr>
              <a:t> </a:t>
            </a:r>
            <a:r>
              <a:rPr sz="1800" spc="-70" dirty="0">
                <a:solidFill>
                  <a:srgbClr val="252525"/>
                </a:solidFill>
                <a:latin typeface="Calibri"/>
                <a:cs typeface="Calibri"/>
              </a:rPr>
              <a:t>significantly, </a:t>
            </a:r>
            <a:r>
              <a:rPr sz="1800" spc="-55" dirty="0">
                <a:solidFill>
                  <a:srgbClr val="252525"/>
                </a:solidFill>
                <a:latin typeface="Calibri"/>
                <a:cs typeface="Calibri"/>
              </a:rPr>
              <a:t>while</a:t>
            </a:r>
            <a:r>
              <a:rPr sz="1800" spc="-50" dirty="0">
                <a:solidFill>
                  <a:srgbClr val="252525"/>
                </a:solidFill>
                <a:latin typeface="Calibri"/>
                <a:cs typeface="Calibri"/>
              </a:rPr>
              <a:t> </a:t>
            </a:r>
            <a:r>
              <a:rPr sz="1800" spc="-55" dirty="0">
                <a:solidFill>
                  <a:srgbClr val="252525"/>
                </a:solidFill>
                <a:latin typeface="Calibri"/>
                <a:cs typeface="Calibri"/>
              </a:rPr>
              <a:t>SQLite</a:t>
            </a:r>
            <a:r>
              <a:rPr sz="1800" spc="-35" dirty="0">
                <a:solidFill>
                  <a:srgbClr val="252525"/>
                </a:solidFill>
                <a:latin typeface="Calibri"/>
                <a:cs typeface="Calibri"/>
              </a:rPr>
              <a:t> is</a:t>
            </a:r>
            <a:r>
              <a:rPr sz="1800" spc="-60" dirty="0">
                <a:solidFill>
                  <a:srgbClr val="252525"/>
                </a:solidFill>
                <a:latin typeface="Calibri"/>
                <a:cs typeface="Calibri"/>
              </a:rPr>
              <a:t> </a:t>
            </a:r>
            <a:r>
              <a:rPr sz="1800" spc="-20" dirty="0">
                <a:solidFill>
                  <a:srgbClr val="252525"/>
                </a:solidFill>
                <a:latin typeface="Calibri"/>
                <a:cs typeface="Calibri"/>
              </a:rPr>
              <a:t>also </a:t>
            </a:r>
            <a:r>
              <a:rPr sz="1800" spc="-60" dirty="0">
                <a:solidFill>
                  <a:srgbClr val="252525"/>
                </a:solidFill>
                <a:latin typeface="Calibri"/>
                <a:cs typeface="Calibri"/>
              </a:rPr>
              <a:t>gaining</a:t>
            </a:r>
            <a:r>
              <a:rPr sz="1800" spc="-55" dirty="0">
                <a:solidFill>
                  <a:srgbClr val="252525"/>
                </a:solidFill>
                <a:latin typeface="Calibri"/>
                <a:cs typeface="Calibri"/>
              </a:rPr>
              <a:t> </a:t>
            </a:r>
            <a:r>
              <a:rPr sz="1800" spc="-60" dirty="0">
                <a:solidFill>
                  <a:srgbClr val="252525"/>
                </a:solidFill>
                <a:latin typeface="Calibri"/>
                <a:cs typeface="Calibri"/>
              </a:rPr>
              <a:t>traction</a:t>
            </a:r>
            <a:r>
              <a:rPr sz="1800" spc="-55" dirty="0">
                <a:solidFill>
                  <a:srgbClr val="252525"/>
                </a:solidFill>
                <a:latin typeface="Calibri"/>
                <a:cs typeface="Calibri"/>
              </a:rPr>
              <a:t> for</a:t>
            </a:r>
            <a:r>
              <a:rPr sz="1800" spc="-65" dirty="0">
                <a:solidFill>
                  <a:srgbClr val="252525"/>
                </a:solidFill>
                <a:latin typeface="Calibri"/>
                <a:cs typeface="Calibri"/>
              </a:rPr>
              <a:t> </a:t>
            </a:r>
            <a:r>
              <a:rPr sz="1800" spc="-60" dirty="0">
                <a:solidFill>
                  <a:srgbClr val="252525"/>
                </a:solidFill>
                <a:latin typeface="Calibri"/>
                <a:cs typeface="Calibri"/>
              </a:rPr>
              <a:t>lightweight</a:t>
            </a:r>
            <a:r>
              <a:rPr sz="1800" spc="-90" dirty="0">
                <a:solidFill>
                  <a:srgbClr val="252525"/>
                </a:solidFill>
                <a:latin typeface="Calibri"/>
                <a:cs typeface="Calibri"/>
              </a:rPr>
              <a:t> </a:t>
            </a:r>
            <a:r>
              <a:rPr sz="1800" spc="-10" dirty="0">
                <a:solidFill>
                  <a:srgbClr val="252525"/>
                </a:solidFill>
                <a:latin typeface="Calibri"/>
                <a:cs typeface="Calibri"/>
              </a:rPr>
              <a:t>applications.</a:t>
            </a:r>
            <a:endParaRPr sz="1800">
              <a:latin typeface="Calibri"/>
              <a:cs typeface="Calibri"/>
            </a:endParaRPr>
          </a:p>
          <a:p>
            <a:pPr marL="241300" marR="119380" indent="-228600">
              <a:lnSpc>
                <a:spcPct val="80000"/>
              </a:lnSpc>
              <a:spcBef>
                <a:spcPts val="994"/>
              </a:spcBef>
              <a:buFont typeface="Arial MT"/>
              <a:buChar char="•"/>
              <a:tabLst>
                <a:tab pos="241300" algn="l"/>
              </a:tabLst>
            </a:pPr>
            <a:r>
              <a:rPr sz="1800" spc="-40" dirty="0">
                <a:solidFill>
                  <a:srgbClr val="252525"/>
                </a:solidFill>
                <a:latin typeface="Calibri"/>
                <a:cs typeface="Calibri"/>
              </a:rPr>
              <a:t>C#</a:t>
            </a:r>
            <a:r>
              <a:rPr sz="1800" spc="-80" dirty="0">
                <a:solidFill>
                  <a:srgbClr val="252525"/>
                </a:solidFill>
                <a:latin typeface="Calibri"/>
                <a:cs typeface="Calibri"/>
              </a:rPr>
              <a:t> </a:t>
            </a:r>
            <a:r>
              <a:rPr sz="1800" spc="-45" dirty="0">
                <a:solidFill>
                  <a:srgbClr val="252525"/>
                </a:solidFill>
                <a:latin typeface="Calibri"/>
                <a:cs typeface="Calibri"/>
              </a:rPr>
              <a:t>and</a:t>
            </a:r>
            <a:r>
              <a:rPr sz="1800" spc="-75" dirty="0">
                <a:solidFill>
                  <a:srgbClr val="252525"/>
                </a:solidFill>
                <a:latin typeface="Calibri"/>
                <a:cs typeface="Calibri"/>
              </a:rPr>
              <a:t> </a:t>
            </a:r>
            <a:r>
              <a:rPr sz="1800" spc="-45" dirty="0">
                <a:solidFill>
                  <a:srgbClr val="252525"/>
                </a:solidFill>
                <a:latin typeface="Calibri"/>
                <a:cs typeface="Calibri"/>
              </a:rPr>
              <a:t>SQL</a:t>
            </a:r>
            <a:r>
              <a:rPr sz="1800" spc="-85" dirty="0">
                <a:solidFill>
                  <a:srgbClr val="252525"/>
                </a:solidFill>
                <a:latin typeface="Calibri"/>
                <a:cs typeface="Calibri"/>
              </a:rPr>
              <a:t> </a:t>
            </a:r>
            <a:r>
              <a:rPr sz="1800" spc="-50" dirty="0">
                <a:solidFill>
                  <a:srgbClr val="252525"/>
                </a:solidFill>
                <a:latin typeface="Calibri"/>
                <a:cs typeface="Calibri"/>
              </a:rPr>
              <a:t>are</a:t>
            </a:r>
            <a:r>
              <a:rPr sz="1800" spc="-75" dirty="0">
                <a:solidFill>
                  <a:srgbClr val="252525"/>
                </a:solidFill>
                <a:latin typeface="Calibri"/>
                <a:cs typeface="Calibri"/>
              </a:rPr>
              <a:t> </a:t>
            </a:r>
            <a:r>
              <a:rPr sz="1800" spc="-60" dirty="0">
                <a:solidFill>
                  <a:srgbClr val="252525"/>
                </a:solidFill>
                <a:latin typeface="Calibri"/>
                <a:cs typeface="Calibri"/>
              </a:rPr>
              <a:t>growing</a:t>
            </a:r>
            <a:r>
              <a:rPr sz="1800" spc="-75" dirty="0">
                <a:solidFill>
                  <a:srgbClr val="252525"/>
                </a:solidFill>
                <a:latin typeface="Calibri"/>
                <a:cs typeface="Calibri"/>
              </a:rPr>
              <a:t> </a:t>
            </a:r>
            <a:r>
              <a:rPr sz="1800" spc="-35" dirty="0">
                <a:solidFill>
                  <a:srgbClr val="252525"/>
                </a:solidFill>
                <a:latin typeface="Calibri"/>
                <a:cs typeface="Calibri"/>
              </a:rPr>
              <a:t>in</a:t>
            </a:r>
            <a:r>
              <a:rPr sz="1800" spc="-75" dirty="0">
                <a:solidFill>
                  <a:srgbClr val="252525"/>
                </a:solidFill>
                <a:latin typeface="Calibri"/>
                <a:cs typeface="Calibri"/>
              </a:rPr>
              <a:t> </a:t>
            </a:r>
            <a:r>
              <a:rPr sz="1800" spc="-55" dirty="0">
                <a:solidFill>
                  <a:srgbClr val="252525"/>
                </a:solidFill>
                <a:latin typeface="Calibri"/>
                <a:cs typeface="Calibri"/>
              </a:rPr>
              <a:t>demand,</a:t>
            </a:r>
            <a:r>
              <a:rPr sz="1800" spc="-90" dirty="0">
                <a:solidFill>
                  <a:srgbClr val="252525"/>
                </a:solidFill>
                <a:latin typeface="Calibri"/>
                <a:cs typeface="Calibri"/>
              </a:rPr>
              <a:t> </a:t>
            </a:r>
            <a:r>
              <a:rPr sz="1800" spc="-55" dirty="0">
                <a:solidFill>
                  <a:srgbClr val="252525"/>
                </a:solidFill>
                <a:latin typeface="Calibri"/>
                <a:cs typeface="Calibri"/>
              </a:rPr>
              <a:t>while</a:t>
            </a:r>
            <a:r>
              <a:rPr sz="1800" spc="-75" dirty="0">
                <a:solidFill>
                  <a:srgbClr val="252525"/>
                </a:solidFill>
                <a:latin typeface="Calibri"/>
                <a:cs typeface="Calibri"/>
              </a:rPr>
              <a:t> </a:t>
            </a:r>
            <a:r>
              <a:rPr sz="1800" spc="-40" dirty="0">
                <a:solidFill>
                  <a:srgbClr val="252525"/>
                </a:solidFill>
                <a:latin typeface="Calibri"/>
                <a:cs typeface="Calibri"/>
              </a:rPr>
              <a:t>JavaScript </a:t>
            </a:r>
            <a:r>
              <a:rPr sz="1800" spc="-60" dirty="0">
                <a:solidFill>
                  <a:srgbClr val="252525"/>
                </a:solidFill>
                <a:latin typeface="Calibri"/>
                <a:cs typeface="Calibri"/>
              </a:rPr>
              <a:t>remains</a:t>
            </a:r>
            <a:r>
              <a:rPr sz="1800" spc="-75" dirty="0">
                <a:solidFill>
                  <a:srgbClr val="252525"/>
                </a:solidFill>
                <a:latin typeface="Calibri"/>
                <a:cs typeface="Calibri"/>
              </a:rPr>
              <a:t> </a:t>
            </a:r>
            <a:r>
              <a:rPr sz="1800" spc="-60" dirty="0">
                <a:solidFill>
                  <a:srgbClr val="252525"/>
                </a:solidFill>
                <a:latin typeface="Calibri"/>
                <a:cs typeface="Calibri"/>
              </a:rPr>
              <a:t>strong</a:t>
            </a:r>
            <a:r>
              <a:rPr sz="1800" spc="-80" dirty="0">
                <a:solidFill>
                  <a:srgbClr val="252525"/>
                </a:solidFill>
                <a:latin typeface="Calibri"/>
                <a:cs typeface="Calibri"/>
              </a:rPr>
              <a:t> </a:t>
            </a:r>
            <a:r>
              <a:rPr sz="1800" spc="-45" dirty="0">
                <a:solidFill>
                  <a:srgbClr val="252525"/>
                </a:solidFill>
                <a:latin typeface="Calibri"/>
                <a:cs typeface="Calibri"/>
              </a:rPr>
              <a:t>but</a:t>
            </a:r>
            <a:r>
              <a:rPr sz="1800" spc="-65" dirty="0">
                <a:solidFill>
                  <a:srgbClr val="252525"/>
                </a:solidFill>
                <a:latin typeface="Calibri"/>
                <a:cs typeface="Calibri"/>
              </a:rPr>
              <a:t> </a:t>
            </a:r>
            <a:r>
              <a:rPr sz="1800" spc="-60" dirty="0">
                <a:solidFill>
                  <a:srgbClr val="252525"/>
                </a:solidFill>
                <a:latin typeface="Calibri"/>
                <a:cs typeface="Calibri"/>
              </a:rPr>
              <a:t>shows</a:t>
            </a:r>
            <a:r>
              <a:rPr sz="1800" spc="-70" dirty="0">
                <a:solidFill>
                  <a:srgbClr val="252525"/>
                </a:solidFill>
                <a:latin typeface="Calibri"/>
                <a:cs typeface="Calibri"/>
              </a:rPr>
              <a:t> </a:t>
            </a:r>
            <a:r>
              <a:rPr sz="1800" spc="-10" dirty="0">
                <a:solidFill>
                  <a:srgbClr val="252525"/>
                </a:solidFill>
                <a:latin typeface="Calibri"/>
                <a:cs typeface="Calibri"/>
              </a:rPr>
              <a:t>a</a:t>
            </a:r>
            <a:r>
              <a:rPr sz="1800" spc="-60" dirty="0">
                <a:solidFill>
                  <a:srgbClr val="252525"/>
                </a:solidFill>
                <a:latin typeface="Calibri"/>
                <a:cs typeface="Calibri"/>
              </a:rPr>
              <a:t> </a:t>
            </a:r>
            <a:r>
              <a:rPr sz="1800" spc="-55" dirty="0">
                <a:solidFill>
                  <a:srgbClr val="252525"/>
                </a:solidFill>
                <a:latin typeface="Calibri"/>
                <a:cs typeface="Calibri"/>
              </a:rPr>
              <a:t>slight</a:t>
            </a:r>
            <a:r>
              <a:rPr sz="1800" spc="-75" dirty="0">
                <a:solidFill>
                  <a:srgbClr val="252525"/>
                </a:solidFill>
                <a:latin typeface="Calibri"/>
                <a:cs typeface="Calibri"/>
              </a:rPr>
              <a:t> </a:t>
            </a:r>
            <a:r>
              <a:rPr sz="1800" spc="-55" dirty="0">
                <a:solidFill>
                  <a:srgbClr val="252525"/>
                </a:solidFill>
                <a:latin typeface="Calibri"/>
                <a:cs typeface="Calibri"/>
              </a:rPr>
              <a:t>decline</a:t>
            </a:r>
            <a:r>
              <a:rPr sz="1800" spc="-45" dirty="0">
                <a:solidFill>
                  <a:srgbClr val="252525"/>
                </a:solidFill>
                <a:latin typeface="Calibri"/>
                <a:cs typeface="Calibri"/>
              </a:rPr>
              <a:t> </a:t>
            </a:r>
            <a:r>
              <a:rPr sz="1800" spc="-25" dirty="0">
                <a:solidFill>
                  <a:srgbClr val="252525"/>
                </a:solidFill>
                <a:latin typeface="Calibri"/>
                <a:cs typeface="Calibri"/>
              </a:rPr>
              <a:t>in </a:t>
            </a:r>
            <a:r>
              <a:rPr sz="1800" spc="-10" dirty="0">
                <a:solidFill>
                  <a:srgbClr val="252525"/>
                </a:solidFill>
                <a:latin typeface="Calibri"/>
                <a:cs typeface="Calibri"/>
              </a:rPr>
              <a:t>preference.</a:t>
            </a:r>
            <a:endParaRPr sz="1800">
              <a:latin typeface="Calibri"/>
              <a:cs typeface="Calibri"/>
            </a:endParaRPr>
          </a:p>
          <a:p>
            <a:pPr marL="241300" marR="443230" indent="-228600">
              <a:lnSpc>
                <a:spcPts val="1730"/>
              </a:lnSpc>
              <a:spcBef>
                <a:spcPts val="980"/>
              </a:spcBef>
              <a:buFont typeface="Arial MT"/>
              <a:buChar char="•"/>
              <a:tabLst>
                <a:tab pos="241300" algn="l"/>
              </a:tabLst>
            </a:pPr>
            <a:r>
              <a:rPr sz="1800" spc="-55" dirty="0">
                <a:solidFill>
                  <a:srgbClr val="252525"/>
                </a:solidFill>
                <a:latin typeface="Calibri"/>
                <a:cs typeface="Calibri"/>
              </a:rPr>
              <a:t>Cloud</a:t>
            </a:r>
            <a:r>
              <a:rPr sz="1800" spc="-60" dirty="0">
                <a:solidFill>
                  <a:srgbClr val="252525"/>
                </a:solidFill>
                <a:latin typeface="Calibri"/>
                <a:cs typeface="Calibri"/>
              </a:rPr>
              <a:t> adoption</a:t>
            </a:r>
            <a:r>
              <a:rPr sz="1800" spc="-40" dirty="0">
                <a:solidFill>
                  <a:srgbClr val="252525"/>
                </a:solidFill>
                <a:latin typeface="Calibri"/>
                <a:cs typeface="Calibri"/>
              </a:rPr>
              <a:t> </a:t>
            </a:r>
            <a:r>
              <a:rPr sz="1800" spc="-35" dirty="0">
                <a:solidFill>
                  <a:srgbClr val="252525"/>
                </a:solidFill>
                <a:latin typeface="Calibri"/>
                <a:cs typeface="Calibri"/>
              </a:rPr>
              <a:t>is</a:t>
            </a:r>
            <a:r>
              <a:rPr sz="1800" spc="-70" dirty="0">
                <a:solidFill>
                  <a:srgbClr val="252525"/>
                </a:solidFill>
                <a:latin typeface="Calibri"/>
                <a:cs typeface="Calibri"/>
              </a:rPr>
              <a:t> </a:t>
            </a:r>
            <a:r>
              <a:rPr sz="1800" spc="-60" dirty="0">
                <a:solidFill>
                  <a:srgbClr val="252525"/>
                </a:solidFill>
                <a:latin typeface="Calibri"/>
                <a:cs typeface="Calibri"/>
              </a:rPr>
              <a:t>expanding</a:t>
            </a:r>
            <a:r>
              <a:rPr sz="1800" spc="-70" dirty="0">
                <a:solidFill>
                  <a:srgbClr val="252525"/>
                </a:solidFill>
                <a:latin typeface="Calibri"/>
                <a:cs typeface="Calibri"/>
              </a:rPr>
              <a:t> </a:t>
            </a:r>
            <a:r>
              <a:rPr sz="1800" spc="-60" dirty="0">
                <a:solidFill>
                  <a:srgbClr val="252525"/>
                </a:solidFill>
                <a:latin typeface="Calibri"/>
                <a:cs typeface="Calibri"/>
              </a:rPr>
              <a:t>beyond </a:t>
            </a:r>
            <a:r>
              <a:rPr sz="1800" spc="-70" dirty="0">
                <a:solidFill>
                  <a:srgbClr val="252525"/>
                </a:solidFill>
                <a:latin typeface="Calibri"/>
                <a:cs typeface="Calibri"/>
              </a:rPr>
              <a:t>AWS,</a:t>
            </a:r>
            <a:r>
              <a:rPr sz="1800" spc="-65" dirty="0">
                <a:solidFill>
                  <a:srgbClr val="252525"/>
                </a:solidFill>
                <a:latin typeface="Calibri"/>
                <a:cs typeface="Calibri"/>
              </a:rPr>
              <a:t> </a:t>
            </a:r>
            <a:r>
              <a:rPr sz="1800" spc="-20" dirty="0">
                <a:solidFill>
                  <a:srgbClr val="252525"/>
                </a:solidFill>
                <a:latin typeface="Calibri"/>
                <a:cs typeface="Calibri"/>
              </a:rPr>
              <a:t>with </a:t>
            </a:r>
            <a:r>
              <a:rPr sz="1800" spc="-55" dirty="0">
                <a:solidFill>
                  <a:srgbClr val="252525"/>
                </a:solidFill>
                <a:latin typeface="Calibri"/>
                <a:cs typeface="Calibri"/>
              </a:rPr>
              <a:t>Google</a:t>
            </a:r>
            <a:r>
              <a:rPr sz="1800" spc="-65" dirty="0">
                <a:solidFill>
                  <a:srgbClr val="252525"/>
                </a:solidFill>
                <a:latin typeface="Calibri"/>
                <a:cs typeface="Calibri"/>
              </a:rPr>
              <a:t> </a:t>
            </a:r>
            <a:r>
              <a:rPr sz="1800" spc="-55" dirty="0">
                <a:solidFill>
                  <a:srgbClr val="252525"/>
                </a:solidFill>
                <a:latin typeface="Calibri"/>
                <a:cs typeface="Calibri"/>
              </a:rPr>
              <a:t>Cloud</a:t>
            </a:r>
            <a:r>
              <a:rPr sz="1800" spc="-60" dirty="0">
                <a:solidFill>
                  <a:srgbClr val="252525"/>
                </a:solidFill>
                <a:latin typeface="Calibri"/>
                <a:cs typeface="Calibri"/>
              </a:rPr>
              <a:t> </a:t>
            </a:r>
            <a:r>
              <a:rPr sz="1800" spc="-45" dirty="0">
                <a:solidFill>
                  <a:srgbClr val="252525"/>
                </a:solidFill>
                <a:latin typeface="Calibri"/>
                <a:cs typeface="Calibri"/>
              </a:rPr>
              <a:t>and</a:t>
            </a:r>
            <a:r>
              <a:rPr sz="1800" spc="-65" dirty="0">
                <a:solidFill>
                  <a:srgbClr val="252525"/>
                </a:solidFill>
                <a:latin typeface="Calibri"/>
                <a:cs typeface="Calibri"/>
              </a:rPr>
              <a:t> </a:t>
            </a:r>
            <a:r>
              <a:rPr sz="1800" spc="-60" dirty="0">
                <a:solidFill>
                  <a:srgbClr val="252525"/>
                </a:solidFill>
                <a:latin typeface="Calibri"/>
                <a:cs typeface="Calibri"/>
              </a:rPr>
              <a:t>Digital</a:t>
            </a:r>
            <a:r>
              <a:rPr sz="1800" spc="-55" dirty="0">
                <a:solidFill>
                  <a:srgbClr val="252525"/>
                </a:solidFill>
                <a:latin typeface="Calibri"/>
                <a:cs typeface="Calibri"/>
              </a:rPr>
              <a:t> Ocean</a:t>
            </a:r>
            <a:r>
              <a:rPr sz="1800" spc="-60" dirty="0">
                <a:solidFill>
                  <a:srgbClr val="252525"/>
                </a:solidFill>
                <a:latin typeface="Calibri"/>
                <a:cs typeface="Calibri"/>
              </a:rPr>
              <a:t> gaining</a:t>
            </a:r>
            <a:r>
              <a:rPr sz="1800" spc="-75" dirty="0">
                <a:solidFill>
                  <a:srgbClr val="252525"/>
                </a:solidFill>
                <a:latin typeface="Calibri"/>
                <a:cs typeface="Calibri"/>
              </a:rPr>
              <a:t> </a:t>
            </a:r>
            <a:r>
              <a:rPr sz="1800" spc="-35" dirty="0">
                <a:solidFill>
                  <a:srgbClr val="252525"/>
                </a:solidFill>
                <a:latin typeface="Calibri"/>
                <a:cs typeface="Calibri"/>
              </a:rPr>
              <a:t>traction, </a:t>
            </a:r>
            <a:r>
              <a:rPr sz="1800" spc="-60" dirty="0">
                <a:solidFill>
                  <a:srgbClr val="252525"/>
                </a:solidFill>
                <a:latin typeface="Calibri"/>
                <a:cs typeface="Calibri"/>
              </a:rPr>
              <a:t>although</a:t>
            </a:r>
            <a:r>
              <a:rPr sz="1800" spc="-55" dirty="0">
                <a:solidFill>
                  <a:srgbClr val="252525"/>
                </a:solidFill>
                <a:latin typeface="Calibri"/>
                <a:cs typeface="Calibri"/>
              </a:rPr>
              <a:t> </a:t>
            </a:r>
            <a:r>
              <a:rPr sz="1800" spc="-70" dirty="0">
                <a:solidFill>
                  <a:srgbClr val="252525"/>
                </a:solidFill>
                <a:latin typeface="Calibri"/>
                <a:cs typeface="Calibri"/>
              </a:rPr>
              <a:t>AWS </a:t>
            </a:r>
            <a:r>
              <a:rPr sz="1800" spc="-60" dirty="0">
                <a:solidFill>
                  <a:srgbClr val="252525"/>
                </a:solidFill>
                <a:latin typeface="Calibri"/>
                <a:cs typeface="Calibri"/>
              </a:rPr>
              <a:t>remains </a:t>
            </a:r>
            <a:r>
              <a:rPr sz="1800" spc="-45" dirty="0">
                <a:solidFill>
                  <a:srgbClr val="252525"/>
                </a:solidFill>
                <a:latin typeface="Calibri"/>
                <a:cs typeface="Calibri"/>
              </a:rPr>
              <a:t>the</a:t>
            </a:r>
            <a:r>
              <a:rPr sz="1800" spc="-55" dirty="0">
                <a:solidFill>
                  <a:srgbClr val="252525"/>
                </a:solidFill>
                <a:latin typeface="Calibri"/>
                <a:cs typeface="Calibri"/>
              </a:rPr>
              <a:t> </a:t>
            </a:r>
            <a:r>
              <a:rPr sz="1800" spc="-10" dirty="0">
                <a:solidFill>
                  <a:srgbClr val="252525"/>
                </a:solidFill>
                <a:latin typeface="Calibri"/>
                <a:cs typeface="Calibri"/>
              </a:rPr>
              <a:t>leader.</a:t>
            </a:r>
            <a:endParaRPr sz="1800">
              <a:latin typeface="Calibri"/>
              <a:cs typeface="Calibri"/>
            </a:endParaRPr>
          </a:p>
          <a:p>
            <a:pPr marL="241300" marR="91440" indent="-228600">
              <a:lnSpc>
                <a:spcPct val="80000"/>
              </a:lnSpc>
              <a:spcBef>
                <a:spcPts val="1015"/>
              </a:spcBef>
              <a:buFont typeface="Arial MT"/>
              <a:buChar char="•"/>
              <a:tabLst>
                <a:tab pos="241300" algn="l"/>
              </a:tabLst>
            </a:pPr>
            <a:r>
              <a:rPr sz="1800" spc="-60" dirty="0">
                <a:solidFill>
                  <a:srgbClr val="252525"/>
                </a:solidFill>
                <a:latin typeface="Calibri"/>
                <a:cs typeface="Calibri"/>
              </a:rPr>
              <a:t>React,</a:t>
            </a:r>
            <a:r>
              <a:rPr sz="1800" spc="-70" dirty="0">
                <a:solidFill>
                  <a:srgbClr val="252525"/>
                </a:solidFill>
                <a:latin typeface="Calibri"/>
                <a:cs typeface="Calibri"/>
              </a:rPr>
              <a:t> </a:t>
            </a:r>
            <a:r>
              <a:rPr sz="1800" spc="-55" dirty="0">
                <a:solidFill>
                  <a:srgbClr val="252525"/>
                </a:solidFill>
                <a:latin typeface="Calibri"/>
                <a:cs typeface="Calibri"/>
              </a:rPr>
              <a:t>Spring</a:t>
            </a:r>
            <a:r>
              <a:rPr sz="1800" spc="-80" dirty="0">
                <a:solidFill>
                  <a:srgbClr val="252525"/>
                </a:solidFill>
                <a:latin typeface="Calibri"/>
                <a:cs typeface="Calibri"/>
              </a:rPr>
              <a:t> </a:t>
            </a:r>
            <a:r>
              <a:rPr sz="1800" spc="-50" dirty="0">
                <a:solidFill>
                  <a:srgbClr val="252525"/>
                </a:solidFill>
                <a:latin typeface="Calibri"/>
                <a:cs typeface="Calibri"/>
              </a:rPr>
              <a:t>Boot,</a:t>
            </a:r>
            <a:r>
              <a:rPr sz="1800" spc="-80" dirty="0">
                <a:solidFill>
                  <a:srgbClr val="252525"/>
                </a:solidFill>
                <a:latin typeface="Calibri"/>
                <a:cs typeface="Calibri"/>
              </a:rPr>
              <a:t> </a:t>
            </a:r>
            <a:r>
              <a:rPr sz="1800" spc="-45" dirty="0">
                <a:solidFill>
                  <a:srgbClr val="252525"/>
                </a:solidFill>
                <a:latin typeface="Calibri"/>
                <a:cs typeface="Calibri"/>
              </a:rPr>
              <a:t>and</a:t>
            </a:r>
            <a:r>
              <a:rPr sz="1800" spc="-65" dirty="0">
                <a:solidFill>
                  <a:srgbClr val="252525"/>
                </a:solidFill>
                <a:latin typeface="Calibri"/>
                <a:cs typeface="Calibri"/>
              </a:rPr>
              <a:t> </a:t>
            </a:r>
            <a:r>
              <a:rPr sz="1800" spc="-60" dirty="0">
                <a:solidFill>
                  <a:srgbClr val="252525"/>
                </a:solidFill>
                <a:latin typeface="Calibri"/>
                <a:cs typeface="Calibri"/>
              </a:rPr>
              <a:t>FastAPI</a:t>
            </a:r>
            <a:r>
              <a:rPr sz="1800" spc="-110" dirty="0">
                <a:solidFill>
                  <a:srgbClr val="252525"/>
                </a:solidFill>
                <a:latin typeface="Calibri"/>
                <a:cs typeface="Calibri"/>
              </a:rPr>
              <a:t> </a:t>
            </a:r>
            <a:r>
              <a:rPr sz="1800" spc="-50" dirty="0">
                <a:solidFill>
                  <a:srgbClr val="252525"/>
                </a:solidFill>
                <a:latin typeface="Calibri"/>
                <a:cs typeface="Calibri"/>
              </a:rPr>
              <a:t>are</a:t>
            </a:r>
            <a:r>
              <a:rPr sz="1800" spc="-70" dirty="0">
                <a:solidFill>
                  <a:srgbClr val="252525"/>
                </a:solidFill>
                <a:latin typeface="Calibri"/>
                <a:cs typeface="Calibri"/>
              </a:rPr>
              <a:t> </a:t>
            </a:r>
            <a:r>
              <a:rPr sz="1800" spc="-45" dirty="0">
                <a:solidFill>
                  <a:srgbClr val="252525"/>
                </a:solidFill>
                <a:latin typeface="Calibri"/>
                <a:cs typeface="Calibri"/>
              </a:rPr>
              <a:t>the</a:t>
            </a:r>
            <a:r>
              <a:rPr sz="1800" spc="-75" dirty="0">
                <a:solidFill>
                  <a:srgbClr val="252525"/>
                </a:solidFill>
                <a:latin typeface="Calibri"/>
                <a:cs typeface="Calibri"/>
              </a:rPr>
              <a:t> </a:t>
            </a:r>
            <a:r>
              <a:rPr sz="1800" spc="-50" dirty="0">
                <a:solidFill>
                  <a:srgbClr val="252525"/>
                </a:solidFill>
                <a:latin typeface="Calibri"/>
                <a:cs typeface="Calibri"/>
              </a:rPr>
              <a:t>most</a:t>
            </a:r>
            <a:r>
              <a:rPr sz="1800" spc="-85" dirty="0">
                <a:solidFill>
                  <a:srgbClr val="252525"/>
                </a:solidFill>
                <a:latin typeface="Calibri"/>
                <a:cs typeface="Calibri"/>
              </a:rPr>
              <a:t> </a:t>
            </a:r>
            <a:r>
              <a:rPr sz="1800" spc="-25" dirty="0">
                <a:solidFill>
                  <a:srgbClr val="252525"/>
                </a:solidFill>
                <a:latin typeface="Calibri"/>
                <a:cs typeface="Calibri"/>
              </a:rPr>
              <a:t>desired </a:t>
            </a:r>
            <a:r>
              <a:rPr sz="1800" spc="-50" dirty="0">
                <a:solidFill>
                  <a:srgbClr val="252525"/>
                </a:solidFill>
                <a:latin typeface="Calibri"/>
                <a:cs typeface="Calibri"/>
              </a:rPr>
              <a:t>web</a:t>
            </a:r>
            <a:r>
              <a:rPr sz="1800" spc="-75" dirty="0">
                <a:solidFill>
                  <a:srgbClr val="252525"/>
                </a:solidFill>
                <a:latin typeface="Calibri"/>
                <a:cs typeface="Calibri"/>
              </a:rPr>
              <a:t> </a:t>
            </a:r>
            <a:r>
              <a:rPr sz="1800" spc="-60" dirty="0">
                <a:solidFill>
                  <a:srgbClr val="252525"/>
                </a:solidFill>
                <a:latin typeface="Calibri"/>
                <a:cs typeface="Calibri"/>
              </a:rPr>
              <a:t>frameworks,</a:t>
            </a:r>
            <a:r>
              <a:rPr sz="1800" spc="-120" dirty="0">
                <a:solidFill>
                  <a:srgbClr val="252525"/>
                </a:solidFill>
                <a:latin typeface="Calibri"/>
                <a:cs typeface="Calibri"/>
              </a:rPr>
              <a:t> </a:t>
            </a:r>
            <a:r>
              <a:rPr sz="1800" spc="-45" dirty="0">
                <a:solidFill>
                  <a:srgbClr val="252525"/>
                </a:solidFill>
                <a:latin typeface="Calibri"/>
                <a:cs typeface="Calibri"/>
              </a:rPr>
              <a:t>with</a:t>
            </a:r>
            <a:r>
              <a:rPr sz="1800" spc="-65" dirty="0">
                <a:solidFill>
                  <a:srgbClr val="252525"/>
                </a:solidFill>
                <a:latin typeface="Calibri"/>
                <a:cs typeface="Calibri"/>
              </a:rPr>
              <a:t> </a:t>
            </a:r>
            <a:r>
              <a:rPr sz="1800" spc="-55" dirty="0">
                <a:solidFill>
                  <a:srgbClr val="252525"/>
                </a:solidFill>
                <a:latin typeface="Calibri"/>
                <a:cs typeface="Calibri"/>
              </a:rPr>
              <a:t>FastAPI</a:t>
            </a:r>
            <a:r>
              <a:rPr sz="1800" spc="-110" dirty="0">
                <a:solidFill>
                  <a:srgbClr val="252525"/>
                </a:solidFill>
                <a:latin typeface="Calibri"/>
                <a:cs typeface="Calibri"/>
              </a:rPr>
              <a:t> </a:t>
            </a:r>
            <a:r>
              <a:rPr sz="1800" spc="-55" dirty="0">
                <a:solidFill>
                  <a:srgbClr val="252525"/>
                </a:solidFill>
                <a:latin typeface="Calibri"/>
                <a:cs typeface="Calibri"/>
              </a:rPr>
              <a:t>showing</a:t>
            </a:r>
            <a:r>
              <a:rPr sz="1800" spc="-70" dirty="0">
                <a:solidFill>
                  <a:srgbClr val="252525"/>
                </a:solidFill>
                <a:latin typeface="Calibri"/>
                <a:cs typeface="Calibri"/>
              </a:rPr>
              <a:t> </a:t>
            </a:r>
            <a:r>
              <a:rPr sz="1800" dirty="0">
                <a:solidFill>
                  <a:srgbClr val="252525"/>
                </a:solidFill>
                <a:latin typeface="Calibri"/>
                <a:cs typeface="Calibri"/>
              </a:rPr>
              <a:t>a</a:t>
            </a:r>
            <a:r>
              <a:rPr sz="1800" spc="-75" dirty="0">
                <a:solidFill>
                  <a:srgbClr val="252525"/>
                </a:solidFill>
                <a:latin typeface="Calibri"/>
                <a:cs typeface="Calibri"/>
              </a:rPr>
              <a:t> </a:t>
            </a:r>
            <a:r>
              <a:rPr sz="1800" spc="-60" dirty="0">
                <a:solidFill>
                  <a:srgbClr val="252525"/>
                </a:solidFill>
                <a:latin typeface="Calibri"/>
                <a:cs typeface="Calibri"/>
              </a:rPr>
              <a:t>surge</a:t>
            </a:r>
            <a:r>
              <a:rPr sz="1800" spc="-100" dirty="0">
                <a:solidFill>
                  <a:srgbClr val="252525"/>
                </a:solidFill>
                <a:latin typeface="Calibri"/>
                <a:cs typeface="Calibri"/>
              </a:rPr>
              <a:t> </a:t>
            </a:r>
            <a:r>
              <a:rPr sz="1800" spc="-25" dirty="0">
                <a:solidFill>
                  <a:srgbClr val="252525"/>
                </a:solidFill>
                <a:latin typeface="Calibri"/>
                <a:cs typeface="Calibri"/>
              </a:rPr>
              <a:t>in </a:t>
            </a:r>
            <a:r>
              <a:rPr sz="1800" spc="-65" dirty="0">
                <a:solidFill>
                  <a:srgbClr val="252525"/>
                </a:solidFill>
                <a:latin typeface="Calibri"/>
                <a:cs typeface="Calibri"/>
              </a:rPr>
              <a:t>interest,</a:t>
            </a:r>
            <a:r>
              <a:rPr sz="1800" spc="-60" dirty="0">
                <a:solidFill>
                  <a:srgbClr val="252525"/>
                </a:solidFill>
                <a:latin typeface="Calibri"/>
                <a:cs typeface="Calibri"/>
              </a:rPr>
              <a:t> indicating </a:t>
            </a:r>
            <a:r>
              <a:rPr sz="1800" spc="-45" dirty="0">
                <a:solidFill>
                  <a:srgbClr val="252525"/>
                </a:solidFill>
                <a:latin typeface="Calibri"/>
                <a:cs typeface="Calibri"/>
              </a:rPr>
              <a:t>the</a:t>
            </a:r>
            <a:r>
              <a:rPr sz="1800" spc="-50" dirty="0">
                <a:solidFill>
                  <a:srgbClr val="252525"/>
                </a:solidFill>
                <a:latin typeface="Calibri"/>
                <a:cs typeface="Calibri"/>
              </a:rPr>
              <a:t> </a:t>
            </a:r>
            <a:r>
              <a:rPr sz="1800" spc="-45" dirty="0">
                <a:solidFill>
                  <a:srgbClr val="252525"/>
                </a:solidFill>
                <a:latin typeface="Calibri"/>
                <a:cs typeface="Calibri"/>
              </a:rPr>
              <a:t>rise</a:t>
            </a:r>
            <a:r>
              <a:rPr sz="1800" spc="-50" dirty="0">
                <a:solidFill>
                  <a:srgbClr val="252525"/>
                </a:solidFill>
                <a:latin typeface="Calibri"/>
                <a:cs typeface="Calibri"/>
              </a:rPr>
              <a:t> </a:t>
            </a:r>
            <a:r>
              <a:rPr sz="1800" spc="-40" dirty="0">
                <a:solidFill>
                  <a:srgbClr val="252525"/>
                </a:solidFill>
                <a:latin typeface="Calibri"/>
                <a:cs typeface="Calibri"/>
              </a:rPr>
              <a:t>of</a:t>
            </a:r>
            <a:r>
              <a:rPr sz="1800" spc="-60" dirty="0">
                <a:solidFill>
                  <a:srgbClr val="252525"/>
                </a:solidFill>
                <a:latin typeface="Calibri"/>
                <a:cs typeface="Calibri"/>
              </a:rPr>
              <a:t> Python-</a:t>
            </a:r>
            <a:r>
              <a:rPr sz="1800" spc="-55" dirty="0">
                <a:solidFill>
                  <a:srgbClr val="252525"/>
                </a:solidFill>
                <a:latin typeface="Calibri"/>
                <a:cs typeface="Calibri"/>
              </a:rPr>
              <a:t>based</a:t>
            </a:r>
            <a:r>
              <a:rPr sz="1800" spc="-75" dirty="0">
                <a:solidFill>
                  <a:srgbClr val="252525"/>
                </a:solidFill>
                <a:latin typeface="Calibri"/>
                <a:cs typeface="Calibri"/>
              </a:rPr>
              <a:t> </a:t>
            </a:r>
            <a:r>
              <a:rPr sz="1800" spc="-25" dirty="0">
                <a:solidFill>
                  <a:srgbClr val="252525"/>
                </a:solidFill>
                <a:latin typeface="Calibri"/>
                <a:cs typeface="Calibri"/>
              </a:rPr>
              <a:t>API </a:t>
            </a:r>
            <a:r>
              <a:rPr sz="1800" spc="-10" dirty="0">
                <a:solidFill>
                  <a:srgbClr val="252525"/>
                </a:solidFill>
                <a:latin typeface="Calibri"/>
                <a:cs typeface="Calibri"/>
              </a:rPr>
              <a:t>development.</a:t>
            </a:r>
            <a:endParaRPr sz="1800">
              <a:latin typeface="Calibri"/>
              <a:cs typeface="Calibri"/>
            </a:endParaRPr>
          </a:p>
        </p:txBody>
      </p:sp>
      <p:sp>
        <p:nvSpPr>
          <p:cNvPr id="4" name="object 4"/>
          <p:cNvSpPr txBox="1"/>
          <p:nvPr/>
        </p:nvSpPr>
        <p:spPr>
          <a:xfrm>
            <a:off x="892555" y="1759966"/>
            <a:ext cx="7068820" cy="452120"/>
          </a:xfrm>
          <a:prstGeom prst="rect">
            <a:avLst/>
          </a:prstGeom>
        </p:spPr>
        <p:txBody>
          <a:bodyPr vert="horz" wrap="square" lIns="0" tIns="12065" rIns="0" bIns="0" rtlCol="0">
            <a:spAutoFit/>
          </a:bodyPr>
          <a:lstStyle/>
          <a:p>
            <a:pPr marL="12700">
              <a:lnSpc>
                <a:spcPct val="100000"/>
              </a:lnSpc>
              <a:spcBef>
                <a:spcPts val="95"/>
              </a:spcBef>
              <a:tabLst>
                <a:tab pos="5371465" algn="l"/>
              </a:tabLst>
            </a:pPr>
            <a:r>
              <a:rPr sz="2800" b="1" spc="-10" dirty="0">
                <a:solidFill>
                  <a:srgbClr val="252525"/>
                </a:solidFill>
                <a:latin typeface="Calibri"/>
                <a:cs typeface="Calibri"/>
              </a:rPr>
              <a:t>Findings</a:t>
            </a:r>
            <a:r>
              <a:rPr sz="2800" b="1" dirty="0">
                <a:solidFill>
                  <a:srgbClr val="252525"/>
                </a:solidFill>
                <a:latin typeface="Calibri"/>
                <a:cs typeface="Calibri"/>
              </a:rPr>
              <a:t>	</a:t>
            </a:r>
            <a:r>
              <a:rPr sz="2800" b="1" spc="-85" dirty="0">
                <a:solidFill>
                  <a:srgbClr val="252525"/>
                </a:solidFill>
                <a:latin typeface="Calibri"/>
                <a:cs typeface="Calibri"/>
              </a:rPr>
              <a:t>Implications</a:t>
            </a:r>
            <a:endParaRPr sz="2800">
              <a:latin typeface="Calibri"/>
              <a:cs typeface="Calibri"/>
            </a:endParaRPr>
          </a:p>
        </p:txBody>
      </p:sp>
      <p:sp>
        <p:nvSpPr>
          <p:cNvPr id="5" name="object 5"/>
          <p:cNvSpPr txBox="1"/>
          <p:nvPr/>
        </p:nvSpPr>
        <p:spPr>
          <a:xfrm>
            <a:off x="6251828" y="2512898"/>
            <a:ext cx="4828540" cy="2089785"/>
          </a:xfrm>
          <a:prstGeom prst="rect">
            <a:avLst/>
          </a:prstGeom>
        </p:spPr>
        <p:txBody>
          <a:bodyPr vert="horz" wrap="square" lIns="0" tIns="12700" rIns="0" bIns="0" rtlCol="0">
            <a:spAutoFit/>
          </a:bodyPr>
          <a:lstStyle/>
          <a:p>
            <a:pPr marL="240665" indent="-227965">
              <a:lnSpc>
                <a:spcPts val="1945"/>
              </a:lnSpc>
              <a:spcBef>
                <a:spcPts val="100"/>
              </a:spcBef>
              <a:buFont typeface="Arial MT"/>
              <a:buChar char="•"/>
              <a:tabLst>
                <a:tab pos="240665" algn="l"/>
              </a:tabLst>
            </a:pPr>
            <a:r>
              <a:rPr sz="1800" spc="-65" dirty="0">
                <a:solidFill>
                  <a:srgbClr val="252525"/>
                </a:solidFill>
                <a:latin typeface="Calibri"/>
                <a:cs typeface="Calibri"/>
              </a:rPr>
              <a:t>Developers</a:t>
            </a:r>
            <a:r>
              <a:rPr sz="1800" spc="-60" dirty="0">
                <a:solidFill>
                  <a:srgbClr val="252525"/>
                </a:solidFill>
                <a:latin typeface="Calibri"/>
                <a:cs typeface="Calibri"/>
              </a:rPr>
              <a:t> </a:t>
            </a:r>
            <a:r>
              <a:rPr sz="1800" spc="-55" dirty="0">
                <a:solidFill>
                  <a:srgbClr val="252525"/>
                </a:solidFill>
                <a:latin typeface="Calibri"/>
                <a:cs typeface="Calibri"/>
              </a:rPr>
              <a:t>should</a:t>
            </a:r>
            <a:r>
              <a:rPr sz="1800" spc="-45" dirty="0">
                <a:solidFill>
                  <a:srgbClr val="252525"/>
                </a:solidFill>
                <a:latin typeface="Calibri"/>
                <a:cs typeface="Calibri"/>
              </a:rPr>
              <a:t> </a:t>
            </a:r>
            <a:r>
              <a:rPr sz="1800" spc="-60" dirty="0">
                <a:solidFill>
                  <a:srgbClr val="252525"/>
                </a:solidFill>
                <a:latin typeface="Calibri"/>
                <a:cs typeface="Calibri"/>
              </a:rPr>
              <a:t>focus</a:t>
            </a:r>
            <a:r>
              <a:rPr sz="1800" spc="-55" dirty="0">
                <a:solidFill>
                  <a:srgbClr val="252525"/>
                </a:solidFill>
                <a:latin typeface="Calibri"/>
                <a:cs typeface="Calibri"/>
              </a:rPr>
              <a:t> </a:t>
            </a:r>
            <a:r>
              <a:rPr sz="1800" spc="-35" dirty="0">
                <a:solidFill>
                  <a:srgbClr val="252525"/>
                </a:solidFill>
                <a:latin typeface="Calibri"/>
                <a:cs typeface="Calibri"/>
              </a:rPr>
              <a:t>on</a:t>
            </a:r>
            <a:r>
              <a:rPr sz="1800" spc="-40" dirty="0">
                <a:solidFill>
                  <a:srgbClr val="252525"/>
                </a:solidFill>
                <a:latin typeface="Calibri"/>
                <a:cs typeface="Calibri"/>
              </a:rPr>
              <a:t> </a:t>
            </a:r>
            <a:r>
              <a:rPr sz="1800" spc="-65" dirty="0">
                <a:solidFill>
                  <a:srgbClr val="252525"/>
                </a:solidFill>
                <a:latin typeface="Calibri"/>
                <a:cs typeface="Calibri"/>
              </a:rPr>
              <a:t>PostgreSQL,</a:t>
            </a:r>
            <a:r>
              <a:rPr sz="1800" spc="-50" dirty="0">
                <a:solidFill>
                  <a:srgbClr val="252525"/>
                </a:solidFill>
                <a:latin typeface="Calibri"/>
                <a:cs typeface="Calibri"/>
              </a:rPr>
              <a:t> C#, </a:t>
            </a:r>
            <a:r>
              <a:rPr sz="1800" spc="-25" dirty="0">
                <a:solidFill>
                  <a:srgbClr val="252525"/>
                </a:solidFill>
                <a:latin typeface="Calibri"/>
                <a:cs typeface="Calibri"/>
              </a:rPr>
              <a:t>and</a:t>
            </a:r>
            <a:endParaRPr sz="1800">
              <a:latin typeface="Calibri"/>
              <a:cs typeface="Calibri"/>
            </a:endParaRPr>
          </a:p>
          <a:p>
            <a:pPr marL="241300">
              <a:lnSpc>
                <a:spcPts val="1945"/>
              </a:lnSpc>
            </a:pPr>
            <a:r>
              <a:rPr sz="1800" spc="-50" dirty="0">
                <a:solidFill>
                  <a:srgbClr val="252525"/>
                </a:solidFill>
                <a:latin typeface="Calibri"/>
                <a:cs typeface="Calibri"/>
              </a:rPr>
              <a:t>Python</a:t>
            </a:r>
            <a:r>
              <a:rPr sz="1800" spc="-90" dirty="0">
                <a:solidFill>
                  <a:srgbClr val="252525"/>
                </a:solidFill>
                <a:latin typeface="Calibri"/>
                <a:cs typeface="Calibri"/>
              </a:rPr>
              <a:t> </a:t>
            </a:r>
            <a:r>
              <a:rPr sz="1800" spc="-45" dirty="0">
                <a:solidFill>
                  <a:srgbClr val="252525"/>
                </a:solidFill>
                <a:latin typeface="Calibri"/>
                <a:cs typeface="Calibri"/>
              </a:rPr>
              <a:t>to</a:t>
            </a:r>
            <a:r>
              <a:rPr sz="1800" spc="-75" dirty="0">
                <a:solidFill>
                  <a:srgbClr val="252525"/>
                </a:solidFill>
                <a:latin typeface="Calibri"/>
                <a:cs typeface="Calibri"/>
              </a:rPr>
              <a:t> </a:t>
            </a:r>
            <a:r>
              <a:rPr sz="1800" spc="-50" dirty="0">
                <a:solidFill>
                  <a:srgbClr val="252525"/>
                </a:solidFill>
                <a:latin typeface="Calibri"/>
                <a:cs typeface="Calibri"/>
              </a:rPr>
              <a:t>align</a:t>
            </a:r>
            <a:r>
              <a:rPr sz="1800" spc="-65" dirty="0">
                <a:solidFill>
                  <a:srgbClr val="252525"/>
                </a:solidFill>
                <a:latin typeface="Calibri"/>
                <a:cs typeface="Calibri"/>
              </a:rPr>
              <a:t> </a:t>
            </a:r>
            <a:r>
              <a:rPr sz="1800" spc="-50" dirty="0">
                <a:solidFill>
                  <a:srgbClr val="252525"/>
                </a:solidFill>
                <a:latin typeface="Calibri"/>
                <a:cs typeface="Calibri"/>
              </a:rPr>
              <a:t>with</a:t>
            </a:r>
            <a:r>
              <a:rPr sz="1800" spc="-70" dirty="0">
                <a:solidFill>
                  <a:srgbClr val="252525"/>
                </a:solidFill>
                <a:latin typeface="Calibri"/>
                <a:cs typeface="Calibri"/>
              </a:rPr>
              <a:t> </a:t>
            </a:r>
            <a:r>
              <a:rPr sz="1800" spc="-65" dirty="0">
                <a:solidFill>
                  <a:srgbClr val="252525"/>
                </a:solidFill>
                <a:latin typeface="Calibri"/>
                <a:cs typeface="Calibri"/>
              </a:rPr>
              <a:t>market</a:t>
            </a:r>
            <a:r>
              <a:rPr sz="1800" spc="-85" dirty="0">
                <a:solidFill>
                  <a:srgbClr val="252525"/>
                </a:solidFill>
                <a:latin typeface="Calibri"/>
                <a:cs typeface="Calibri"/>
              </a:rPr>
              <a:t> </a:t>
            </a:r>
            <a:r>
              <a:rPr sz="1800" spc="-10" dirty="0">
                <a:solidFill>
                  <a:srgbClr val="252525"/>
                </a:solidFill>
                <a:latin typeface="Calibri"/>
                <a:cs typeface="Calibri"/>
              </a:rPr>
              <a:t>demand.</a:t>
            </a:r>
            <a:endParaRPr sz="1800">
              <a:latin typeface="Calibri"/>
              <a:cs typeface="Calibri"/>
            </a:endParaRPr>
          </a:p>
          <a:p>
            <a:pPr marL="241300" marR="5080" indent="-228600">
              <a:lnSpc>
                <a:spcPct val="80000"/>
              </a:lnSpc>
              <a:spcBef>
                <a:spcPts val="994"/>
              </a:spcBef>
              <a:buFont typeface="Arial MT"/>
              <a:buChar char="•"/>
              <a:tabLst>
                <a:tab pos="241300" algn="l"/>
              </a:tabLst>
            </a:pPr>
            <a:r>
              <a:rPr sz="1800" spc="-55" dirty="0">
                <a:solidFill>
                  <a:srgbClr val="252525"/>
                </a:solidFill>
                <a:latin typeface="Calibri"/>
                <a:cs typeface="Calibri"/>
              </a:rPr>
              <a:t>Businesses</a:t>
            </a:r>
            <a:r>
              <a:rPr sz="1800" spc="-90" dirty="0">
                <a:solidFill>
                  <a:srgbClr val="252525"/>
                </a:solidFill>
                <a:latin typeface="Calibri"/>
                <a:cs typeface="Calibri"/>
              </a:rPr>
              <a:t> </a:t>
            </a:r>
            <a:r>
              <a:rPr sz="1800" spc="-55" dirty="0">
                <a:solidFill>
                  <a:srgbClr val="252525"/>
                </a:solidFill>
                <a:latin typeface="Calibri"/>
                <a:cs typeface="Calibri"/>
              </a:rPr>
              <a:t>should</a:t>
            </a:r>
            <a:r>
              <a:rPr sz="1800" spc="-65" dirty="0">
                <a:solidFill>
                  <a:srgbClr val="252525"/>
                </a:solidFill>
                <a:latin typeface="Calibri"/>
                <a:cs typeface="Calibri"/>
              </a:rPr>
              <a:t> </a:t>
            </a:r>
            <a:r>
              <a:rPr sz="1800" spc="-60" dirty="0">
                <a:solidFill>
                  <a:srgbClr val="252525"/>
                </a:solidFill>
                <a:latin typeface="Calibri"/>
                <a:cs typeface="Calibri"/>
              </a:rPr>
              <a:t>invest</a:t>
            </a:r>
            <a:r>
              <a:rPr sz="1800" spc="-65" dirty="0">
                <a:solidFill>
                  <a:srgbClr val="252525"/>
                </a:solidFill>
                <a:latin typeface="Calibri"/>
                <a:cs typeface="Calibri"/>
              </a:rPr>
              <a:t> </a:t>
            </a:r>
            <a:r>
              <a:rPr sz="1800" spc="-35" dirty="0">
                <a:solidFill>
                  <a:srgbClr val="252525"/>
                </a:solidFill>
                <a:latin typeface="Calibri"/>
                <a:cs typeface="Calibri"/>
              </a:rPr>
              <a:t>in</a:t>
            </a:r>
            <a:r>
              <a:rPr sz="1800" spc="-45" dirty="0">
                <a:solidFill>
                  <a:srgbClr val="252525"/>
                </a:solidFill>
                <a:latin typeface="Calibri"/>
                <a:cs typeface="Calibri"/>
              </a:rPr>
              <a:t> </a:t>
            </a:r>
            <a:r>
              <a:rPr sz="1800" spc="-60" dirty="0">
                <a:solidFill>
                  <a:srgbClr val="252525"/>
                </a:solidFill>
                <a:latin typeface="Calibri"/>
                <a:cs typeface="Calibri"/>
              </a:rPr>
              <a:t>multi-</a:t>
            </a:r>
            <a:r>
              <a:rPr sz="1800" spc="-55" dirty="0">
                <a:solidFill>
                  <a:srgbClr val="252525"/>
                </a:solidFill>
                <a:latin typeface="Calibri"/>
                <a:cs typeface="Calibri"/>
              </a:rPr>
              <a:t>cloud</a:t>
            </a:r>
            <a:r>
              <a:rPr sz="1800" spc="-45" dirty="0">
                <a:solidFill>
                  <a:srgbClr val="252525"/>
                </a:solidFill>
                <a:latin typeface="Calibri"/>
                <a:cs typeface="Calibri"/>
              </a:rPr>
              <a:t> </a:t>
            </a:r>
            <a:r>
              <a:rPr sz="1800" spc="-10" dirty="0">
                <a:solidFill>
                  <a:srgbClr val="252525"/>
                </a:solidFill>
                <a:latin typeface="Calibri"/>
                <a:cs typeface="Calibri"/>
              </a:rPr>
              <a:t>strategies </a:t>
            </a:r>
            <a:r>
              <a:rPr sz="1800" spc="-65" dirty="0">
                <a:solidFill>
                  <a:srgbClr val="252525"/>
                </a:solidFill>
                <a:latin typeface="Calibri"/>
                <a:cs typeface="Calibri"/>
              </a:rPr>
              <a:t>(AWS,</a:t>
            </a:r>
            <a:r>
              <a:rPr sz="1800" spc="-60" dirty="0">
                <a:solidFill>
                  <a:srgbClr val="252525"/>
                </a:solidFill>
                <a:latin typeface="Calibri"/>
                <a:cs typeface="Calibri"/>
              </a:rPr>
              <a:t> Azure,</a:t>
            </a:r>
            <a:r>
              <a:rPr sz="1800" spc="-75" dirty="0">
                <a:solidFill>
                  <a:srgbClr val="252525"/>
                </a:solidFill>
                <a:latin typeface="Calibri"/>
                <a:cs typeface="Calibri"/>
              </a:rPr>
              <a:t> </a:t>
            </a:r>
            <a:r>
              <a:rPr sz="1800" spc="-55" dirty="0">
                <a:solidFill>
                  <a:srgbClr val="252525"/>
                </a:solidFill>
                <a:latin typeface="Calibri"/>
                <a:cs typeface="Calibri"/>
              </a:rPr>
              <a:t>Google</a:t>
            </a:r>
            <a:r>
              <a:rPr sz="1800" spc="-80" dirty="0">
                <a:solidFill>
                  <a:srgbClr val="252525"/>
                </a:solidFill>
                <a:latin typeface="Calibri"/>
                <a:cs typeface="Calibri"/>
              </a:rPr>
              <a:t> </a:t>
            </a:r>
            <a:r>
              <a:rPr sz="1800" spc="-55" dirty="0">
                <a:solidFill>
                  <a:srgbClr val="252525"/>
                </a:solidFill>
                <a:latin typeface="Calibri"/>
                <a:cs typeface="Calibri"/>
              </a:rPr>
              <a:t>Cloud) </a:t>
            </a:r>
            <a:r>
              <a:rPr sz="1800" spc="-45" dirty="0">
                <a:solidFill>
                  <a:srgbClr val="252525"/>
                </a:solidFill>
                <a:latin typeface="Calibri"/>
                <a:cs typeface="Calibri"/>
              </a:rPr>
              <a:t>to</a:t>
            </a:r>
            <a:r>
              <a:rPr sz="1800" spc="-70" dirty="0">
                <a:solidFill>
                  <a:srgbClr val="252525"/>
                </a:solidFill>
                <a:latin typeface="Calibri"/>
                <a:cs typeface="Calibri"/>
              </a:rPr>
              <a:t> </a:t>
            </a:r>
            <a:r>
              <a:rPr sz="1800" spc="-65" dirty="0">
                <a:solidFill>
                  <a:srgbClr val="252525"/>
                </a:solidFill>
                <a:latin typeface="Calibri"/>
                <a:cs typeface="Calibri"/>
              </a:rPr>
              <a:t>attract</a:t>
            </a:r>
            <a:r>
              <a:rPr sz="1800" spc="-85" dirty="0">
                <a:solidFill>
                  <a:srgbClr val="252525"/>
                </a:solidFill>
                <a:latin typeface="Calibri"/>
                <a:cs typeface="Calibri"/>
              </a:rPr>
              <a:t> </a:t>
            </a:r>
            <a:r>
              <a:rPr sz="1800" spc="-60" dirty="0">
                <a:solidFill>
                  <a:srgbClr val="252525"/>
                </a:solidFill>
                <a:latin typeface="Calibri"/>
                <a:cs typeface="Calibri"/>
              </a:rPr>
              <a:t>talent</a:t>
            </a:r>
            <a:r>
              <a:rPr sz="1800" spc="-80" dirty="0">
                <a:solidFill>
                  <a:srgbClr val="252525"/>
                </a:solidFill>
                <a:latin typeface="Calibri"/>
                <a:cs typeface="Calibri"/>
              </a:rPr>
              <a:t> </a:t>
            </a:r>
            <a:r>
              <a:rPr sz="1800" spc="-45" dirty="0">
                <a:solidFill>
                  <a:srgbClr val="252525"/>
                </a:solidFill>
                <a:latin typeface="Calibri"/>
                <a:cs typeface="Calibri"/>
              </a:rPr>
              <a:t>and</a:t>
            </a:r>
            <a:r>
              <a:rPr sz="1800" spc="-65" dirty="0">
                <a:solidFill>
                  <a:srgbClr val="252525"/>
                </a:solidFill>
                <a:latin typeface="Calibri"/>
                <a:cs typeface="Calibri"/>
              </a:rPr>
              <a:t> </a:t>
            </a:r>
            <a:r>
              <a:rPr sz="1800" spc="-20" dirty="0">
                <a:solidFill>
                  <a:srgbClr val="252525"/>
                </a:solidFill>
                <a:latin typeface="Calibri"/>
                <a:cs typeface="Calibri"/>
              </a:rPr>
              <a:t>stay </a:t>
            </a:r>
            <a:r>
              <a:rPr sz="1800" spc="-10" dirty="0">
                <a:solidFill>
                  <a:srgbClr val="252525"/>
                </a:solidFill>
                <a:latin typeface="Calibri"/>
                <a:cs typeface="Calibri"/>
              </a:rPr>
              <a:t>competitive.</a:t>
            </a:r>
            <a:endParaRPr sz="1800">
              <a:latin typeface="Calibri"/>
              <a:cs typeface="Calibri"/>
            </a:endParaRPr>
          </a:p>
          <a:p>
            <a:pPr marL="241300" marR="116205" indent="-228600">
              <a:lnSpc>
                <a:spcPct val="80000"/>
              </a:lnSpc>
              <a:spcBef>
                <a:spcPts val="1000"/>
              </a:spcBef>
              <a:buFont typeface="Arial MT"/>
              <a:buChar char="•"/>
              <a:tabLst>
                <a:tab pos="241300" algn="l"/>
              </a:tabLst>
            </a:pPr>
            <a:r>
              <a:rPr sz="1800" spc="-55" dirty="0">
                <a:solidFill>
                  <a:srgbClr val="252525"/>
                </a:solidFill>
                <a:latin typeface="Calibri"/>
                <a:cs typeface="Calibri"/>
              </a:rPr>
              <a:t>Companies shifting</a:t>
            </a:r>
            <a:r>
              <a:rPr sz="1800" spc="-50" dirty="0">
                <a:solidFill>
                  <a:srgbClr val="252525"/>
                </a:solidFill>
                <a:latin typeface="Calibri"/>
                <a:cs typeface="Calibri"/>
              </a:rPr>
              <a:t> </a:t>
            </a:r>
            <a:r>
              <a:rPr sz="1800" spc="-65" dirty="0">
                <a:solidFill>
                  <a:srgbClr val="252525"/>
                </a:solidFill>
                <a:latin typeface="Calibri"/>
                <a:cs typeface="Calibri"/>
              </a:rPr>
              <a:t>toward</a:t>
            </a:r>
            <a:r>
              <a:rPr sz="1800" spc="-40" dirty="0">
                <a:solidFill>
                  <a:srgbClr val="252525"/>
                </a:solidFill>
                <a:latin typeface="Calibri"/>
                <a:cs typeface="Calibri"/>
              </a:rPr>
              <a:t> </a:t>
            </a:r>
            <a:r>
              <a:rPr sz="1800" spc="-60" dirty="0">
                <a:solidFill>
                  <a:srgbClr val="252525"/>
                </a:solidFill>
                <a:latin typeface="Calibri"/>
                <a:cs typeface="Calibri"/>
              </a:rPr>
              <a:t>API-</a:t>
            </a:r>
            <a:r>
              <a:rPr sz="1800" spc="-55" dirty="0">
                <a:solidFill>
                  <a:srgbClr val="252525"/>
                </a:solidFill>
                <a:latin typeface="Calibri"/>
                <a:cs typeface="Calibri"/>
              </a:rPr>
              <a:t>driven</a:t>
            </a:r>
            <a:r>
              <a:rPr sz="1800" spc="-85" dirty="0">
                <a:solidFill>
                  <a:srgbClr val="252525"/>
                </a:solidFill>
                <a:latin typeface="Calibri"/>
                <a:cs typeface="Calibri"/>
              </a:rPr>
              <a:t> </a:t>
            </a:r>
            <a:r>
              <a:rPr sz="1800" spc="-45" dirty="0">
                <a:solidFill>
                  <a:srgbClr val="252525"/>
                </a:solidFill>
                <a:latin typeface="Calibri"/>
                <a:cs typeface="Calibri"/>
              </a:rPr>
              <a:t>architectures </a:t>
            </a:r>
            <a:r>
              <a:rPr sz="1800" spc="-55" dirty="0">
                <a:solidFill>
                  <a:srgbClr val="252525"/>
                </a:solidFill>
                <a:latin typeface="Calibri"/>
                <a:cs typeface="Calibri"/>
              </a:rPr>
              <a:t>should</a:t>
            </a:r>
            <a:r>
              <a:rPr sz="1800" spc="-65" dirty="0">
                <a:solidFill>
                  <a:srgbClr val="252525"/>
                </a:solidFill>
                <a:latin typeface="Calibri"/>
                <a:cs typeface="Calibri"/>
              </a:rPr>
              <a:t> </a:t>
            </a:r>
            <a:r>
              <a:rPr sz="1800" spc="-60" dirty="0">
                <a:solidFill>
                  <a:srgbClr val="252525"/>
                </a:solidFill>
                <a:latin typeface="Calibri"/>
                <a:cs typeface="Calibri"/>
              </a:rPr>
              <a:t>consider</a:t>
            </a:r>
            <a:r>
              <a:rPr sz="1800" spc="-85" dirty="0">
                <a:solidFill>
                  <a:srgbClr val="252525"/>
                </a:solidFill>
                <a:latin typeface="Calibri"/>
                <a:cs typeface="Calibri"/>
              </a:rPr>
              <a:t> </a:t>
            </a:r>
            <a:r>
              <a:rPr sz="1800" spc="-50" dirty="0">
                <a:solidFill>
                  <a:srgbClr val="252525"/>
                </a:solidFill>
                <a:latin typeface="Calibri"/>
                <a:cs typeface="Calibri"/>
              </a:rPr>
              <a:t>Python</a:t>
            </a:r>
            <a:r>
              <a:rPr sz="1800" spc="-75" dirty="0">
                <a:solidFill>
                  <a:srgbClr val="252525"/>
                </a:solidFill>
                <a:latin typeface="Calibri"/>
                <a:cs typeface="Calibri"/>
              </a:rPr>
              <a:t> </a:t>
            </a:r>
            <a:r>
              <a:rPr sz="1800" dirty="0">
                <a:solidFill>
                  <a:srgbClr val="252525"/>
                </a:solidFill>
                <a:latin typeface="Calibri"/>
                <a:cs typeface="Calibri"/>
              </a:rPr>
              <a:t>&amp;</a:t>
            </a:r>
            <a:r>
              <a:rPr sz="1800" spc="-70" dirty="0">
                <a:solidFill>
                  <a:srgbClr val="252525"/>
                </a:solidFill>
                <a:latin typeface="Calibri"/>
                <a:cs typeface="Calibri"/>
              </a:rPr>
              <a:t> </a:t>
            </a:r>
            <a:r>
              <a:rPr sz="1800" spc="-60" dirty="0">
                <a:solidFill>
                  <a:srgbClr val="252525"/>
                </a:solidFill>
                <a:latin typeface="Calibri"/>
                <a:cs typeface="Calibri"/>
              </a:rPr>
              <a:t>FastAPI,</a:t>
            </a:r>
            <a:r>
              <a:rPr sz="1800" spc="-95" dirty="0">
                <a:solidFill>
                  <a:srgbClr val="252525"/>
                </a:solidFill>
                <a:latin typeface="Calibri"/>
                <a:cs typeface="Calibri"/>
              </a:rPr>
              <a:t> </a:t>
            </a:r>
            <a:r>
              <a:rPr sz="1800" spc="-35" dirty="0">
                <a:solidFill>
                  <a:srgbClr val="252525"/>
                </a:solidFill>
                <a:latin typeface="Calibri"/>
                <a:cs typeface="Calibri"/>
              </a:rPr>
              <a:t>as</a:t>
            </a:r>
            <a:r>
              <a:rPr sz="1800" spc="-70" dirty="0">
                <a:solidFill>
                  <a:srgbClr val="252525"/>
                </a:solidFill>
                <a:latin typeface="Calibri"/>
                <a:cs typeface="Calibri"/>
              </a:rPr>
              <a:t> </a:t>
            </a:r>
            <a:r>
              <a:rPr sz="1800" spc="-50" dirty="0">
                <a:solidFill>
                  <a:srgbClr val="252525"/>
                </a:solidFill>
                <a:latin typeface="Calibri"/>
                <a:cs typeface="Calibri"/>
              </a:rPr>
              <a:t>they</a:t>
            </a:r>
            <a:r>
              <a:rPr sz="1800" spc="-65" dirty="0">
                <a:solidFill>
                  <a:srgbClr val="252525"/>
                </a:solidFill>
                <a:latin typeface="Calibri"/>
                <a:cs typeface="Calibri"/>
              </a:rPr>
              <a:t> </a:t>
            </a:r>
            <a:r>
              <a:rPr sz="1800" spc="-25" dirty="0">
                <a:solidFill>
                  <a:srgbClr val="252525"/>
                </a:solidFill>
                <a:latin typeface="Calibri"/>
                <a:cs typeface="Calibri"/>
              </a:rPr>
              <a:t>are </a:t>
            </a:r>
            <a:r>
              <a:rPr sz="1800" spc="-60" dirty="0">
                <a:solidFill>
                  <a:srgbClr val="252525"/>
                </a:solidFill>
                <a:latin typeface="Calibri"/>
                <a:cs typeface="Calibri"/>
              </a:rPr>
              <a:t>becoming</a:t>
            </a:r>
            <a:r>
              <a:rPr sz="1800" spc="-45" dirty="0">
                <a:solidFill>
                  <a:srgbClr val="252525"/>
                </a:solidFill>
                <a:latin typeface="Calibri"/>
                <a:cs typeface="Calibri"/>
              </a:rPr>
              <a:t> </a:t>
            </a:r>
            <a:r>
              <a:rPr sz="1800" spc="-55" dirty="0">
                <a:solidFill>
                  <a:srgbClr val="252525"/>
                </a:solidFill>
                <a:latin typeface="Calibri"/>
                <a:cs typeface="Calibri"/>
              </a:rPr>
              <a:t>essential</a:t>
            </a:r>
            <a:r>
              <a:rPr sz="1800" spc="-100" dirty="0">
                <a:solidFill>
                  <a:srgbClr val="252525"/>
                </a:solidFill>
                <a:latin typeface="Calibri"/>
                <a:cs typeface="Calibri"/>
              </a:rPr>
              <a:t> </a:t>
            </a:r>
            <a:r>
              <a:rPr sz="1800" spc="-40" dirty="0">
                <a:solidFill>
                  <a:srgbClr val="252525"/>
                </a:solidFill>
                <a:latin typeface="Calibri"/>
                <a:cs typeface="Calibri"/>
              </a:rPr>
              <a:t>in</a:t>
            </a:r>
            <a:r>
              <a:rPr sz="1800" spc="-35" dirty="0">
                <a:solidFill>
                  <a:srgbClr val="252525"/>
                </a:solidFill>
                <a:latin typeface="Calibri"/>
                <a:cs typeface="Calibri"/>
              </a:rPr>
              <a:t> </a:t>
            </a:r>
            <a:r>
              <a:rPr sz="1800" spc="-55" dirty="0">
                <a:solidFill>
                  <a:srgbClr val="252525"/>
                </a:solidFill>
                <a:latin typeface="Calibri"/>
                <a:cs typeface="Calibri"/>
              </a:rPr>
              <a:t>modern</a:t>
            </a:r>
            <a:r>
              <a:rPr sz="1800" spc="-65" dirty="0">
                <a:solidFill>
                  <a:srgbClr val="252525"/>
                </a:solidFill>
                <a:latin typeface="Calibri"/>
                <a:cs typeface="Calibri"/>
              </a:rPr>
              <a:t> </a:t>
            </a:r>
            <a:r>
              <a:rPr sz="1800" spc="-10" dirty="0">
                <a:solidFill>
                  <a:srgbClr val="252525"/>
                </a:solidFill>
                <a:latin typeface="Calibri"/>
                <a:cs typeface="Calibri"/>
              </a:rPr>
              <a:t>development.</a:t>
            </a:r>
            <a:endParaRPr sz="18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34763" y="838200"/>
            <a:ext cx="3497784" cy="606833"/>
          </a:xfrm>
          <a:prstGeom prst="rect">
            <a:avLst/>
          </a:prstGeom>
        </p:spPr>
        <p:txBody>
          <a:bodyPr vert="horz" wrap="square" lIns="0" tIns="113284" rIns="0" bIns="0" rtlCol="0">
            <a:spAutoFit/>
          </a:bodyPr>
          <a:lstStyle/>
          <a:p>
            <a:pPr marL="312420">
              <a:lnSpc>
                <a:spcPct val="100000"/>
              </a:lnSpc>
              <a:spcBef>
                <a:spcPts val="95"/>
              </a:spcBef>
            </a:pPr>
            <a:r>
              <a:rPr lang="en-US" sz="3200" spc="-10" dirty="0" smtClean="0"/>
              <a:t>AGE/DATABASESE</a:t>
            </a:r>
            <a:endParaRPr sz="3200" spc="-10" dirty="0"/>
          </a:p>
        </p:txBody>
      </p:sp>
      <p:pic>
        <p:nvPicPr>
          <p:cNvPr id="3" name="object 3"/>
          <p:cNvPicPr/>
          <p:nvPr/>
        </p:nvPicPr>
        <p:blipFill>
          <a:blip r:embed="rId2" cstate="print"/>
          <a:stretch>
            <a:fillRect/>
          </a:stretch>
        </p:blipFill>
        <p:spPr>
          <a:xfrm>
            <a:off x="801598" y="1957323"/>
            <a:ext cx="5282057" cy="3014726"/>
          </a:xfrm>
          <a:prstGeom prst="rect">
            <a:avLst/>
          </a:prstGeom>
        </p:spPr>
      </p:pic>
      <p:pic>
        <p:nvPicPr>
          <p:cNvPr id="4" name="object 4"/>
          <p:cNvPicPr/>
          <p:nvPr/>
        </p:nvPicPr>
        <p:blipFill>
          <a:blip r:embed="rId3" cstate="print"/>
          <a:stretch>
            <a:fillRect/>
          </a:stretch>
        </p:blipFill>
        <p:spPr>
          <a:xfrm>
            <a:off x="6153530" y="2059051"/>
            <a:ext cx="5134863" cy="40020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56671" y="749161"/>
            <a:ext cx="3351099" cy="625043"/>
          </a:xfrm>
          <a:prstGeom prst="rect">
            <a:avLst/>
          </a:prstGeom>
        </p:spPr>
        <p:txBody>
          <a:bodyPr vert="horz" wrap="square" lIns="0" tIns="131318" rIns="0" bIns="0" rtlCol="0">
            <a:spAutoFit/>
          </a:bodyPr>
          <a:lstStyle/>
          <a:p>
            <a:pPr marL="127000">
              <a:lnSpc>
                <a:spcPct val="100000"/>
              </a:lnSpc>
              <a:spcBef>
                <a:spcPts val="95"/>
              </a:spcBef>
            </a:pPr>
            <a:r>
              <a:rPr sz="3200" dirty="0"/>
              <a:t>JOB </a:t>
            </a:r>
            <a:r>
              <a:rPr sz="3200" spc="-10" dirty="0"/>
              <a:t>POSTINGS</a:t>
            </a:r>
          </a:p>
        </p:txBody>
      </p:sp>
      <p:grpSp>
        <p:nvGrpSpPr>
          <p:cNvPr id="3" name="object 3"/>
          <p:cNvGrpSpPr/>
          <p:nvPr/>
        </p:nvGrpSpPr>
        <p:grpSpPr>
          <a:xfrm>
            <a:off x="4032503" y="2357627"/>
            <a:ext cx="5024755" cy="3287395"/>
            <a:chOff x="4032503" y="2357627"/>
            <a:chExt cx="5024755" cy="3287395"/>
          </a:xfrm>
        </p:grpSpPr>
        <p:sp>
          <p:nvSpPr>
            <p:cNvPr id="4" name="object 4"/>
            <p:cNvSpPr/>
            <p:nvPr/>
          </p:nvSpPr>
          <p:spPr>
            <a:xfrm>
              <a:off x="4695443" y="2362199"/>
              <a:ext cx="4357370" cy="3243580"/>
            </a:xfrm>
            <a:custGeom>
              <a:avLst/>
              <a:gdLst/>
              <a:ahLst/>
              <a:cxnLst/>
              <a:rect l="l" t="t" r="r" b="b"/>
              <a:pathLst>
                <a:path w="4357370" h="3243579">
                  <a:moveTo>
                    <a:pt x="0" y="0"/>
                  </a:moveTo>
                  <a:lnTo>
                    <a:pt x="0" y="3243072"/>
                  </a:lnTo>
                </a:path>
                <a:path w="4357370" h="3243579">
                  <a:moveTo>
                    <a:pt x="623315" y="0"/>
                  </a:moveTo>
                  <a:lnTo>
                    <a:pt x="623315" y="3243072"/>
                  </a:lnTo>
                </a:path>
                <a:path w="4357370" h="3243579">
                  <a:moveTo>
                    <a:pt x="1245107" y="0"/>
                  </a:moveTo>
                  <a:lnTo>
                    <a:pt x="1245107" y="3243072"/>
                  </a:lnTo>
                </a:path>
                <a:path w="4357370" h="3243579">
                  <a:moveTo>
                    <a:pt x="1866900" y="0"/>
                  </a:moveTo>
                  <a:lnTo>
                    <a:pt x="1866900" y="3243072"/>
                  </a:lnTo>
                </a:path>
                <a:path w="4357370" h="3243579">
                  <a:moveTo>
                    <a:pt x="2490215" y="0"/>
                  </a:moveTo>
                  <a:lnTo>
                    <a:pt x="2490215" y="3243072"/>
                  </a:lnTo>
                </a:path>
                <a:path w="4357370" h="3243579">
                  <a:moveTo>
                    <a:pt x="3112007" y="0"/>
                  </a:moveTo>
                  <a:lnTo>
                    <a:pt x="3112007" y="3243072"/>
                  </a:lnTo>
                </a:path>
                <a:path w="4357370" h="3243579">
                  <a:moveTo>
                    <a:pt x="3733800" y="0"/>
                  </a:moveTo>
                  <a:lnTo>
                    <a:pt x="3733800" y="3243072"/>
                  </a:lnTo>
                </a:path>
                <a:path w="4357370" h="3243579">
                  <a:moveTo>
                    <a:pt x="4357115" y="0"/>
                  </a:moveTo>
                  <a:lnTo>
                    <a:pt x="4357115" y="3243072"/>
                  </a:lnTo>
                </a:path>
              </a:pathLst>
            </a:custGeom>
            <a:ln w="9144">
              <a:solidFill>
                <a:srgbClr val="858585"/>
              </a:solidFill>
            </a:ln>
          </p:spPr>
          <p:txBody>
            <a:bodyPr wrap="square" lIns="0" tIns="0" rIns="0" bIns="0" rtlCol="0"/>
            <a:lstStyle/>
            <a:p>
              <a:endParaRPr/>
            </a:p>
          </p:txBody>
        </p:sp>
        <p:pic>
          <p:nvPicPr>
            <p:cNvPr id="5" name="object 5"/>
            <p:cNvPicPr/>
            <p:nvPr/>
          </p:nvPicPr>
          <p:blipFill>
            <a:blip r:embed="rId2" cstate="print"/>
            <a:stretch>
              <a:fillRect/>
            </a:stretch>
          </p:blipFill>
          <p:spPr>
            <a:xfrm>
              <a:off x="4073651" y="5396483"/>
              <a:ext cx="44195" cy="193547"/>
            </a:xfrm>
            <a:prstGeom prst="rect">
              <a:avLst/>
            </a:prstGeom>
          </p:spPr>
        </p:pic>
        <p:pic>
          <p:nvPicPr>
            <p:cNvPr id="6" name="object 6"/>
            <p:cNvPicPr/>
            <p:nvPr/>
          </p:nvPicPr>
          <p:blipFill>
            <a:blip r:embed="rId3" cstate="print"/>
            <a:stretch>
              <a:fillRect/>
            </a:stretch>
          </p:blipFill>
          <p:spPr>
            <a:xfrm>
              <a:off x="4073651" y="5126735"/>
              <a:ext cx="45719" cy="193547"/>
            </a:xfrm>
            <a:prstGeom prst="rect">
              <a:avLst/>
            </a:prstGeom>
          </p:spPr>
        </p:pic>
        <p:pic>
          <p:nvPicPr>
            <p:cNvPr id="7" name="object 7"/>
            <p:cNvPicPr/>
            <p:nvPr/>
          </p:nvPicPr>
          <p:blipFill>
            <a:blip r:embed="rId4" cstate="print"/>
            <a:stretch>
              <a:fillRect/>
            </a:stretch>
          </p:blipFill>
          <p:spPr>
            <a:xfrm>
              <a:off x="4073651" y="4855463"/>
              <a:ext cx="53339" cy="193548"/>
            </a:xfrm>
            <a:prstGeom prst="rect">
              <a:avLst/>
            </a:prstGeom>
          </p:spPr>
        </p:pic>
        <p:pic>
          <p:nvPicPr>
            <p:cNvPr id="8" name="object 8"/>
            <p:cNvPicPr/>
            <p:nvPr/>
          </p:nvPicPr>
          <p:blipFill>
            <a:blip r:embed="rId5" cstate="print"/>
            <a:stretch>
              <a:fillRect/>
            </a:stretch>
          </p:blipFill>
          <p:spPr>
            <a:xfrm>
              <a:off x="4073651" y="4585716"/>
              <a:ext cx="97536" cy="193548"/>
            </a:xfrm>
            <a:prstGeom prst="rect">
              <a:avLst/>
            </a:prstGeom>
          </p:spPr>
        </p:pic>
        <p:pic>
          <p:nvPicPr>
            <p:cNvPr id="9" name="object 9"/>
            <p:cNvPicPr/>
            <p:nvPr/>
          </p:nvPicPr>
          <p:blipFill>
            <a:blip r:embed="rId6" cstate="print"/>
            <a:stretch>
              <a:fillRect/>
            </a:stretch>
          </p:blipFill>
          <p:spPr>
            <a:xfrm>
              <a:off x="4073651" y="4315967"/>
              <a:ext cx="120395" cy="193548"/>
            </a:xfrm>
            <a:prstGeom prst="rect">
              <a:avLst/>
            </a:prstGeom>
          </p:spPr>
        </p:pic>
        <p:pic>
          <p:nvPicPr>
            <p:cNvPr id="10" name="object 10"/>
            <p:cNvPicPr/>
            <p:nvPr/>
          </p:nvPicPr>
          <p:blipFill>
            <a:blip r:embed="rId7" cstate="print"/>
            <a:stretch>
              <a:fillRect/>
            </a:stretch>
          </p:blipFill>
          <p:spPr>
            <a:xfrm>
              <a:off x="4073651" y="4044695"/>
              <a:ext cx="137160" cy="193548"/>
            </a:xfrm>
            <a:prstGeom prst="rect">
              <a:avLst/>
            </a:prstGeom>
          </p:spPr>
        </p:pic>
        <p:pic>
          <p:nvPicPr>
            <p:cNvPr id="11" name="object 11"/>
            <p:cNvPicPr/>
            <p:nvPr/>
          </p:nvPicPr>
          <p:blipFill>
            <a:blip r:embed="rId8" cstate="print"/>
            <a:stretch>
              <a:fillRect/>
            </a:stretch>
          </p:blipFill>
          <p:spPr>
            <a:xfrm>
              <a:off x="4073651" y="3774947"/>
              <a:ext cx="146303" cy="193548"/>
            </a:xfrm>
            <a:prstGeom prst="rect">
              <a:avLst/>
            </a:prstGeom>
          </p:spPr>
        </p:pic>
        <p:pic>
          <p:nvPicPr>
            <p:cNvPr id="12" name="object 12"/>
            <p:cNvPicPr/>
            <p:nvPr/>
          </p:nvPicPr>
          <p:blipFill>
            <a:blip r:embed="rId9" cstate="print"/>
            <a:stretch>
              <a:fillRect/>
            </a:stretch>
          </p:blipFill>
          <p:spPr>
            <a:xfrm>
              <a:off x="4073651" y="3505200"/>
              <a:ext cx="153924" cy="193548"/>
            </a:xfrm>
            <a:prstGeom prst="rect">
              <a:avLst/>
            </a:prstGeom>
          </p:spPr>
        </p:pic>
        <p:pic>
          <p:nvPicPr>
            <p:cNvPr id="13" name="object 13"/>
            <p:cNvPicPr/>
            <p:nvPr/>
          </p:nvPicPr>
          <p:blipFill>
            <a:blip r:embed="rId10" cstate="print"/>
            <a:stretch>
              <a:fillRect/>
            </a:stretch>
          </p:blipFill>
          <p:spPr>
            <a:xfrm>
              <a:off x="4073651" y="3233927"/>
              <a:ext cx="286512" cy="193548"/>
            </a:xfrm>
            <a:prstGeom prst="rect">
              <a:avLst/>
            </a:prstGeom>
          </p:spPr>
        </p:pic>
        <p:pic>
          <p:nvPicPr>
            <p:cNvPr id="14" name="object 14"/>
            <p:cNvPicPr/>
            <p:nvPr/>
          </p:nvPicPr>
          <p:blipFill>
            <a:blip r:embed="rId11" cstate="print"/>
            <a:stretch>
              <a:fillRect/>
            </a:stretch>
          </p:blipFill>
          <p:spPr>
            <a:xfrm>
              <a:off x="4073651" y="2964179"/>
              <a:ext cx="408431" cy="193548"/>
            </a:xfrm>
            <a:prstGeom prst="rect">
              <a:avLst/>
            </a:prstGeom>
          </p:spPr>
        </p:pic>
        <p:pic>
          <p:nvPicPr>
            <p:cNvPr id="15" name="object 15"/>
            <p:cNvPicPr/>
            <p:nvPr/>
          </p:nvPicPr>
          <p:blipFill>
            <a:blip r:embed="rId12" cstate="print"/>
            <a:stretch>
              <a:fillRect/>
            </a:stretch>
          </p:blipFill>
          <p:spPr>
            <a:xfrm>
              <a:off x="4073651" y="2694431"/>
              <a:ext cx="854963" cy="193548"/>
            </a:xfrm>
            <a:prstGeom prst="rect">
              <a:avLst/>
            </a:prstGeom>
          </p:spPr>
        </p:pic>
        <p:pic>
          <p:nvPicPr>
            <p:cNvPr id="16" name="object 16"/>
            <p:cNvPicPr/>
            <p:nvPr/>
          </p:nvPicPr>
          <p:blipFill>
            <a:blip r:embed="rId13" cstate="print"/>
            <a:stretch>
              <a:fillRect/>
            </a:stretch>
          </p:blipFill>
          <p:spPr>
            <a:xfrm>
              <a:off x="4073651" y="2423159"/>
              <a:ext cx="4242815" cy="193548"/>
            </a:xfrm>
            <a:prstGeom prst="rect">
              <a:avLst/>
            </a:prstGeom>
          </p:spPr>
        </p:pic>
        <p:pic>
          <p:nvPicPr>
            <p:cNvPr id="17" name="object 17"/>
            <p:cNvPicPr/>
            <p:nvPr/>
          </p:nvPicPr>
          <p:blipFill>
            <a:blip r:embed="rId14" cstate="print"/>
            <a:stretch>
              <a:fillRect/>
            </a:stretch>
          </p:blipFill>
          <p:spPr>
            <a:xfrm>
              <a:off x="4073651" y="5146019"/>
              <a:ext cx="3111" cy="108097"/>
            </a:xfrm>
            <a:prstGeom prst="rect">
              <a:avLst/>
            </a:prstGeom>
          </p:spPr>
        </p:pic>
        <p:pic>
          <p:nvPicPr>
            <p:cNvPr id="18" name="object 18"/>
            <p:cNvPicPr/>
            <p:nvPr/>
          </p:nvPicPr>
          <p:blipFill>
            <a:blip r:embed="rId15" cstate="print"/>
            <a:stretch>
              <a:fillRect/>
            </a:stretch>
          </p:blipFill>
          <p:spPr>
            <a:xfrm>
              <a:off x="4073651" y="4875762"/>
              <a:ext cx="10267" cy="108098"/>
            </a:xfrm>
            <a:prstGeom prst="rect">
              <a:avLst/>
            </a:prstGeom>
          </p:spPr>
        </p:pic>
        <p:pic>
          <p:nvPicPr>
            <p:cNvPr id="19" name="object 19"/>
            <p:cNvPicPr/>
            <p:nvPr/>
          </p:nvPicPr>
          <p:blipFill>
            <a:blip r:embed="rId16" cstate="print"/>
            <a:stretch>
              <a:fillRect/>
            </a:stretch>
          </p:blipFill>
          <p:spPr>
            <a:xfrm>
              <a:off x="4073651" y="4605506"/>
              <a:ext cx="54142" cy="108098"/>
            </a:xfrm>
            <a:prstGeom prst="rect">
              <a:avLst/>
            </a:prstGeom>
          </p:spPr>
        </p:pic>
        <p:pic>
          <p:nvPicPr>
            <p:cNvPr id="20" name="object 20"/>
            <p:cNvPicPr/>
            <p:nvPr/>
          </p:nvPicPr>
          <p:blipFill>
            <a:blip r:embed="rId17" cstate="print"/>
            <a:stretch>
              <a:fillRect/>
            </a:stretch>
          </p:blipFill>
          <p:spPr>
            <a:xfrm>
              <a:off x="4073651" y="4335251"/>
              <a:ext cx="77791" cy="108097"/>
            </a:xfrm>
            <a:prstGeom prst="rect">
              <a:avLst/>
            </a:prstGeom>
          </p:spPr>
        </p:pic>
        <p:pic>
          <p:nvPicPr>
            <p:cNvPr id="21" name="object 21"/>
            <p:cNvPicPr/>
            <p:nvPr/>
          </p:nvPicPr>
          <p:blipFill>
            <a:blip r:embed="rId18" cstate="print"/>
            <a:stretch>
              <a:fillRect/>
            </a:stretch>
          </p:blipFill>
          <p:spPr>
            <a:xfrm>
              <a:off x="4073651" y="4064994"/>
              <a:ext cx="94905" cy="108098"/>
            </a:xfrm>
            <a:prstGeom prst="rect">
              <a:avLst/>
            </a:prstGeom>
          </p:spPr>
        </p:pic>
        <p:pic>
          <p:nvPicPr>
            <p:cNvPr id="22" name="object 22"/>
            <p:cNvPicPr/>
            <p:nvPr/>
          </p:nvPicPr>
          <p:blipFill>
            <a:blip r:embed="rId19" cstate="print"/>
            <a:stretch>
              <a:fillRect/>
            </a:stretch>
          </p:blipFill>
          <p:spPr>
            <a:xfrm>
              <a:off x="4073651" y="3794738"/>
              <a:ext cx="103618" cy="108098"/>
            </a:xfrm>
            <a:prstGeom prst="rect">
              <a:avLst/>
            </a:prstGeom>
          </p:spPr>
        </p:pic>
        <p:pic>
          <p:nvPicPr>
            <p:cNvPr id="23" name="object 23"/>
            <p:cNvPicPr/>
            <p:nvPr/>
          </p:nvPicPr>
          <p:blipFill>
            <a:blip r:embed="rId20" cstate="print"/>
            <a:stretch>
              <a:fillRect/>
            </a:stretch>
          </p:blipFill>
          <p:spPr>
            <a:xfrm>
              <a:off x="4073651" y="3524483"/>
              <a:ext cx="110463" cy="108097"/>
            </a:xfrm>
            <a:prstGeom prst="rect">
              <a:avLst/>
            </a:prstGeom>
          </p:spPr>
        </p:pic>
        <p:pic>
          <p:nvPicPr>
            <p:cNvPr id="24" name="object 24"/>
            <p:cNvPicPr/>
            <p:nvPr/>
          </p:nvPicPr>
          <p:blipFill>
            <a:blip r:embed="rId21" cstate="print"/>
            <a:stretch>
              <a:fillRect/>
            </a:stretch>
          </p:blipFill>
          <p:spPr>
            <a:xfrm>
              <a:off x="4073651" y="3254353"/>
              <a:ext cx="243954" cy="108098"/>
            </a:xfrm>
            <a:prstGeom prst="rect">
              <a:avLst/>
            </a:prstGeom>
          </p:spPr>
        </p:pic>
        <p:pic>
          <p:nvPicPr>
            <p:cNvPr id="25" name="object 25"/>
            <p:cNvPicPr/>
            <p:nvPr/>
          </p:nvPicPr>
          <p:blipFill>
            <a:blip r:embed="rId22" cstate="print"/>
            <a:stretch>
              <a:fillRect/>
            </a:stretch>
          </p:blipFill>
          <p:spPr>
            <a:xfrm>
              <a:off x="4073651" y="2984097"/>
              <a:ext cx="364998" cy="108098"/>
            </a:xfrm>
            <a:prstGeom prst="rect">
              <a:avLst/>
            </a:prstGeom>
          </p:spPr>
        </p:pic>
        <p:pic>
          <p:nvPicPr>
            <p:cNvPr id="26" name="object 26"/>
            <p:cNvPicPr/>
            <p:nvPr/>
          </p:nvPicPr>
          <p:blipFill>
            <a:blip r:embed="rId23" cstate="print"/>
            <a:stretch>
              <a:fillRect/>
            </a:stretch>
          </p:blipFill>
          <p:spPr>
            <a:xfrm>
              <a:off x="4073651" y="2713842"/>
              <a:ext cx="811834" cy="108097"/>
            </a:xfrm>
            <a:prstGeom prst="rect">
              <a:avLst/>
            </a:prstGeom>
          </p:spPr>
        </p:pic>
        <p:pic>
          <p:nvPicPr>
            <p:cNvPr id="27" name="object 27"/>
            <p:cNvPicPr/>
            <p:nvPr/>
          </p:nvPicPr>
          <p:blipFill>
            <a:blip r:embed="rId24" cstate="print"/>
            <a:stretch>
              <a:fillRect/>
            </a:stretch>
          </p:blipFill>
          <p:spPr>
            <a:xfrm>
              <a:off x="4073651" y="2443585"/>
              <a:ext cx="4200144" cy="108098"/>
            </a:xfrm>
            <a:prstGeom prst="rect">
              <a:avLst/>
            </a:prstGeom>
          </p:spPr>
        </p:pic>
        <p:sp>
          <p:nvSpPr>
            <p:cNvPr id="28" name="object 28"/>
            <p:cNvSpPr/>
            <p:nvPr/>
          </p:nvSpPr>
          <p:spPr>
            <a:xfrm>
              <a:off x="4073651" y="5605272"/>
              <a:ext cx="4979035" cy="0"/>
            </a:xfrm>
            <a:custGeom>
              <a:avLst/>
              <a:gdLst/>
              <a:ahLst/>
              <a:cxnLst/>
              <a:rect l="l" t="t" r="r" b="b"/>
              <a:pathLst>
                <a:path w="4979034">
                  <a:moveTo>
                    <a:pt x="0" y="0"/>
                  </a:moveTo>
                  <a:lnTo>
                    <a:pt x="4978908" y="0"/>
                  </a:lnTo>
                </a:path>
              </a:pathLst>
            </a:custGeom>
            <a:ln w="6096">
              <a:solidFill>
                <a:srgbClr val="8D8D8D"/>
              </a:solidFill>
            </a:ln>
          </p:spPr>
          <p:txBody>
            <a:bodyPr wrap="square" lIns="0" tIns="0" rIns="0" bIns="0" rtlCol="0"/>
            <a:lstStyle/>
            <a:p>
              <a:endParaRPr/>
            </a:p>
          </p:txBody>
        </p:sp>
        <p:sp>
          <p:nvSpPr>
            <p:cNvPr id="29" name="object 29"/>
            <p:cNvSpPr/>
            <p:nvPr/>
          </p:nvSpPr>
          <p:spPr>
            <a:xfrm>
              <a:off x="4073651" y="5605272"/>
              <a:ext cx="4979035" cy="40005"/>
            </a:xfrm>
            <a:custGeom>
              <a:avLst/>
              <a:gdLst/>
              <a:ahLst/>
              <a:cxnLst/>
              <a:rect l="l" t="t" r="r" b="b"/>
              <a:pathLst>
                <a:path w="4979034" h="40004">
                  <a:moveTo>
                    <a:pt x="0" y="0"/>
                  </a:moveTo>
                  <a:lnTo>
                    <a:pt x="0" y="39623"/>
                  </a:lnTo>
                </a:path>
                <a:path w="4979034" h="40004">
                  <a:moveTo>
                    <a:pt x="621792" y="0"/>
                  </a:moveTo>
                  <a:lnTo>
                    <a:pt x="621792" y="39623"/>
                  </a:lnTo>
                </a:path>
                <a:path w="4979034" h="40004">
                  <a:moveTo>
                    <a:pt x="1245108" y="0"/>
                  </a:moveTo>
                  <a:lnTo>
                    <a:pt x="1245108" y="39623"/>
                  </a:lnTo>
                </a:path>
                <a:path w="4979034" h="40004">
                  <a:moveTo>
                    <a:pt x="1866900" y="0"/>
                  </a:moveTo>
                  <a:lnTo>
                    <a:pt x="1866900" y="39623"/>
                  </a:lnTo>
                </a:path>
                <a:path w="4979034" h="40004">
                  <a:moveTo>
                    <a:pt x="2488692" y="0"/>
                  </a:moveTo>
                  <a:lnTo>
                    <a:pt x="2488692" y="39623"/>
                  </a:lnTo>
                </a:path>
                <a:path w="4979034" h="40004">
                  <a:moveTo>
                    <a:pt x="3112007" y="0"/>
                  </a:moveTo>
                  <a:lnTo>
                    <a:pt x="3112007" y="39623"/>
                  </a:lnTo>
                </a:path>
                <a:path w="4979034" h="40004">
                  <a:moveTo>
                    <a:pt x="3733800" y="0"/>
                  </a:moveTo>
                  <a:lnTo>
                    <a:pt x="3733800" y="39623"/>
                  </a:lnTo>
                </a:path>
                <a:path w="4979034" h="40004">
                  <a:moveTo>
                    <a:pt x="4355592" y="0"/>
                  </a:moveTo>
                  <a:lnTo>
                    <a:pt x="4355592" y="39623"/>
                  </a:lnTo>
                </a:path>
                <a:path w="4979034" h="40004">
                  <a:moveTo>
                    <a:pt x="4978908" y="0"/>
                  </a:moveTo>
                  <a:lnTo>
                    <a:pt x="4978908" y="39623"/>
                  </a:lnTo>
                </a:path>
              </a:pathLst>
            </a:custGeom>
            <a:ln w="9144">
              <a:solidFill>
                <a:srgbClr val="858585"/>
              </a:solidFill>
            </a:ln>
          </p:spPr>
          <p:txBody>
            <a:bodyPr wrap="square" lIns="0" tIns="0" rIns="0" bIns="0" rtlCol="0"/>
            <a:lstStyle/>
            <a:p>
              <a:endParaRPr/>
            </a:p>
          </p:txBody>
        </p:sp>
        <p:sp>
          <p:nvSpPr>
            <p:cNvPr id="30" name="object 30"/>
            <p:cNvSpPr/>
            <p:nvPr/>
          </p:nvSpPr>
          <p:spPr>
            <a:xfrm>
              <a:off x="4073651" y="2362199"/>
              <a:ext cx="0" cy="3243580"/>
            </a:xfrm>
            <a:custGeom>
              <a:avLst/>
              <a:gdLst/>
              <a:ahLst/>
              <a:cxnLst/>
              <a:rect l="l" t="t" r="r" b="b"/>
              <a:pathLst>
                <a:path h="3243579">
                  <a:moveTo>
                    <a:pt x="0" y="3243072"/>
                  </a:moveTo>
                  <a:lnTo>
                    <a:pt x="0" y="0"/>
                  </a:lnTo>
                </a:path>
              </a:pathLst>
            </a:custGeom>
            <a:ln w="6096">
              <a:solidFill>
                <a:srgbClr val="8D8D8D"/>
              </a:solidFill>
            </a:ln>
          </p:spPr>
          <p:txBody>
            <a:bodyPr wrap="square" lIns="0" tIns="0" rIns="0" bIns="0" rtlCol="0"/>
            <a:lstStyle/>
            <a:p>
              <a:endParaRPr/>
            </a:p>
          </p:txBody>
        </p:sp>
        <p:sp>
          <p:nvSpPr>
            <p:cNvPr id="31" name="object 31"/>
            <p:cNvSpPr/>
            <p:nvPr/>
          </p:nvSpPr>
          <p:spPr>
            <a:xfrm>
              <a:off x="4032503" y="2362199"/>
              <a:ext cx="41275" cy="3243580"/>
            </a:xfrm>
            <a:custGeom>
              <a:avLst/>
              <a:gdLst/>
              <a:ahLst/>
              <a:cxnLst/>
              <a:rect l="l" t="t" r="r" b="b"/>
              <a:pathLst>
                <a:path w="41275" h="3243579">
                  <a:moveTo>
                    <a:pt x="0" y="3243072"/>
                  </a:moveTo>
                  <a:lnTo>
                    <a:pt x="41148" y="3243072"/>
                  </a:lnTo>
                </a:path>
                <a:path w="41275" h="3243579">
                  <a:moveTo>
                    <a:pt x="0" y="2973324"/>
                  </a:moveTo>
                  <a:lnTo>
                    <a:pt x="41148" y="2973324"/>
                  </a:lnTo>
                </a:path>
                <a:path w="41275" h="3243579">
                  <a:moveTo>
                    <a:pt x="0" y="2702052"/>
                  </a:moveTo>
                  <a:lnTo>
                    <a:pt x="41148" y="2702052"/>
                  </a:lnTo>
                </a:path>
                <a:path w="41275" h="3243579">
                  <a:moveTo>
                    <a:pt x="0" y="2432304"/>
                  </a:moveTo>
                  <a:lnTo>
                    <a:pt x="41148" y="2432304"/>
                  </a:lnTo>
                </a:path>
                <a:path w="41275" h="3243579">
                  <a:moveTo>
                    <a:pt x="0" y="2162556"/>
                  </a:moveTo>
                  <a:lnTo>
                    <a:pt x="41148" y="2162556"/>
                  </a:lnTo>
                </a:path>
                <a:path w="41275" h="3243579">
                  <a:moveTo>
                    <a:pt x="0" y="1891283"/>
                  </a:moveTo>
                  <a:lnTo>
                    <a:pt x="41148" y="1891283"/>
                  </a:lnTo>
                </a:path>
                <a:path w="41275" h="3243579">
                  <a:moveTo>
                    <a:pt x="0" y="1621536"/>
                  </a:moveTo>
                  <a:lnTo>
                    <a:pt x="41148" y="1621536"/>
                  </a:lnTo>
                </a:path>
                <a:path w="41275" h="3243579">
                  <a:moveTo>
                    <a:pt x="0" y="1351788"/>
                  </a:moveTo>
                  <a:lnTo>
                    <a:pt x="41148" y="1351788"/>
                  </a:lnTo>
                </a:path>
                <a:path w="41275" h="3243579">
                  <a:moveTo>
                    <a:pt x="0" y="1080515"/>
                  </a:moveTo>
                  <a:lnTo>
                    <a:pt x="41148" y="1080515"/>
                  </a:lnTo>
                </a:path>
                <a:path w="41275" h="3243579">
                  <a:moveTo>
                    <a:pt x="0" y="810767"/>
                  </a:moveTo>
                  <a:lnTo>
                    <a:pt x="41148" y="810767"/>
                  </a:lnTo>
                </a:path>
                <a:path w="41275" h="3243579">
                  <a:moveTo>
                    <a:pt x="0" y="541020"/>
                  </a:moveTo>
                  <a:lnTo>
                    <a:pt x="41148" y="541020"/>
                  </a:lnTo>
                </a:path>
                <a:path w="41275" h="3243579">
                  <a:moveTo>
                    <a:pt x="0" y="269748"/>
                  </a:moveTo>
                  <a:lnTo>
                    <a:pt x="41148" y="269748"/>
                  </a:lnTo>
                </a:path>
                <a:path w="41275" h="3243579">
                  <a:moveTo>
                    <a:pt x="0" y="0"/>
                  </a:moveTo>
                  <a:lnTo>
                    <a:pt x="41148" y="0"/>
                  </a:lnTo>
                </a:path>
              </a:pathLst>
            </a:custGeom>
            <a:ln w="9144">
              <a:solidFill>
                <a:srgbClr val="858585"/>
              </a:solidFill>
            </a:ln>
          </p:spPr>
          <p:txBody>
            <a:bodyPr wrap="square" lIns="0" tIns="0" rIns="0" bIns="0" rtlCol="0"/>
            <a:lstStyle/>
            <a:p>
              <a:endParaRPr/>
            </a:p>
          </p:txBody>
        </p:sp>
      </p:grpSp>
      <p:sp>
        <p:nvSpPr>
          <p:cNvPr id="32" name="object 32"/>
          <p:cNvSpPr txBox="1"/>
          <p:nvPr/>
        </p:nvSpPr>
        <p:spPr>
          <a:xfrm>
            <a:off x="4136897" y="5375275"/>
            <a:ext cx="89535" cy="177800"/>
          </a:xfrm>
          <a:prstGeom prst="rect">
            <a:avLst/>
          </a:prstGeom>
        </p:spPr>
        <p:txBody>
          <a:bodyPr vert="horz" wrap="square" lIns="0" tIns="12065" rIns="0" bIns="0" rtlCol="0">
            <a:spAutoFit/>
          </a:bodyPr>
          <a:lstStyle/>
          <a:p>
            <a:pPr marL="12700">
              <a:lnSpc>
                <a:spcPct val="100000"/>
              </a:lnSpc>
              <a:spcBef>
                <a:spcPts val="95"/>
              </a:spcBef>
            </a:pPr>
            <a:r>
              <a:rPr sz="1000" spc="-50" dirty="0">
                <a:latin typeface="Calibri"/>
                <a:cs typeface="Calibri"/>
              </a:rPr>
              <a:t>0</a:t>
            </a:r>
            <a:endParaRPr sz="1000">
              <a:latin typeface="Calibri"/>
              <a:cs typeface="Calibri"/>
            </a:endParaRPr>
          </a:p>
        </p:txBody>
      </p:sp>
      <p:sp>
        <p:nvSpPr>
          <p:cNvPr id="33" name="object 33"/>
          <p:cNvSpPr txBox="1"/>
          <p:nvPr/>
        </p:nvSpPr>
        <p:spPr>
          <a:xfrm>
            <a:off x="4191380" y="4564202"/>
            <a:ext cx="217804"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174</a:t>
            </a:r>
            <a:endParaRPr sz="1000">
              <a:latin typeface="Calibri"/>
              <a:cs typeface="Calibri"/>
            </a:endParaRPr>
          </a:p>
        </p:txBody>
      </p:sp>
      <p:sp>
        <p:nvSpPr>
          <p:cNvPr id="34" name="object 34"/>
          <p:cNvSpPr txBox="1"/>
          <p:nvPr/>
        </p:nvSpPr>
        <p:spPr>
          <a:xfrm>
            <a:off x="4214876" y="4294123"/>
            <a:ext cx="217804"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250</a:t>
            </a:r>
            <a:endParaRPr sz="1000">
              <a:latin typeface="Calibri"/>
              <a:cs typeface="Calibri"/>
            </a:endParaRPr>
          </a:p>
        </p:txBody>
      </p:sp>
      <p:sp>
        <p:nvSpPr>
          <p:cNvPr id="35" name="object 35"/>
          <p:cNvSpPr txBox="1"/>
          <p:nvPr/>
        </p:nvSpPr>
        <p:spPr>
          <a:xfrm>
            <a:off x="4232275" y="4023740"/>
            <a:ext cx="217804"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305</a:t>
            </a:r>
            <a:endParaRPr sz="1000">
              <a:latin typeface="Calibri"/>
              <a:cs typeface="Calibri"/>
            </a:endParaRPr>
          </a:p>
        </p:txBody>
      </p:sp>
      <p:sp>
        <p:nvSpPr>
          <p:cNvPr id="36" name="object 36"/>
          <p:cNvSpPr txBox="1"/>
          <p:nvPr/>
        </p:nvSpPr>
        <p:spPr>
          <a:xfrm>
            <a:off x="4240784" y="3753358"/>
            <a:ext cx="217804"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333</a:t>
            </a:r>
            <a:endParaRPr sz="1000">
              <a:latin typeface="Calibri"/>
              <a:cs typeface="Calibri"/>
            </a:endParaRPr>
          </a:p>
        </p:txBody>
      </p:sp>
      <p:sp>
        <p:nvSpPr>
          <p:cNvPr id="37" name="object 37"/>
          <p:cNvSpPr txBox="1"/>
          <p:nvPr/>
        </p:nvSpPr>
        <p:spPr>
          <a:xfrm>
            <a:off x="4247769" y="3483102"/>
            <a:ext cx="217804"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355</a:t>
            </a:r>
            <a:endParaRPr sz="1000">
              <a:latin typeface="Calibri"/>
              <a:cs typeface="Calibri"/>
            </a:endParaRPr>
          </a:p>
        </p:txBody>
      </p:sp>
      <p:sp>
        <p:nvSpPr>
          <p:cNvPr id="38" name="object 38"/>
          <p:cNvSpPr txBox="1"/>
          <p:nvPr/>
        </p:nvSpPr>
        <p:spPr>
          <a:xfrm>
            <a:off x="4381246" y="3212718"/>
            <a:ext cx="217804"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784</a:t>
            </a:r>
            <a:endParaRPr sz="1000">
              <a:latin typeface="Calibri"/>
              <a:cs typeface="Calibri"/>
            </a:endParaRPr>
          </a:p>
        </p:txBody>
      </p:sp>
      <p:sp>
        <p:nvSpPr>
          <p:cNvPr id="39" name="object 39"/>
          <p:cNvSpPr txBox="1"/>
          <p:nvPr/>
        </p:nvSpPr>
        <p:spPr>
          <a:xfrm>
            <a:off x="4502911" y="2942285"/>
            <a:ext cx="31369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1,173</a:t>
            </a:r>
            <a:endParaRPr sz="1000">
              <a:latin typeface="Calibri"/>
              <a:cs typeface="Calibri"/>
            </a:endParaRPr>
          </a:p>
        </p:txBody>
      </p:sp>
      <p:sp>
        <p:nvSpPr>
          <p:cNvPr id="40" name="object 40"/>
          <p:cNvSpPr txBox="1"/>
          <p:nvPr/>
        </p:nvSpPr>
        <p:spPr>
          <a:xfrm>
            <a:off x="4950078" y="2672333"/>
            <a:ext cx="31369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2,609</a:t>
            </a:r>
            <a:endParaRPr sz="1000">
              <a:latin typeface="Calibri"/>
              <a:cs typeface="Calibri"/>
            </a:endParaRPr>
          </a:p>
        </p:txBody>
      </p:sp>
      <p:sp>
        <p:nvSpPr>
          <p:cNvPr id="41" name="object 41"/>
          <p:cNvSpPr txBox="1"/>
          <p:nvPr/>
        </p:nvSpPr>
        <p:spPr>
          <a:xfrm>
            <a:off x="8338819" y="2401950"/>
            <a:ext cx="37782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13,498</a:t>
            </a:r>
            <a:endParaRPr sz="1000">
              <a:latin typeface="Calibri"/>
              <a:cs typeface="Calibri"/>
            </a:endParaRPr>
          </a:p>
        </p:txBody>
      </p:sp>
      <p:sp>
        <p:nvSpPr>
          <p:cNvPr id="42" name="object 42"/>
          <p:cNvSpPr txBox="1"/>
          <p:nvPr/>
        </p:nvSpPr>
        <p:spPr>
          <a:xfrm>
            <a:off x="4029202" y="5668467"/>
            <a:ext cx="89535" cy="177800"/>
          </a:xfrm>
          <a:prstGeom prst="rect">
            <a:avLst/>
          </a:prstGeom>
        </p:spPr>
        <p:txBody>
          <a:bodyPr vert="horz" wrap="square" lIns="0" tIns="12065" rIns="0" bIns="0" rtlCol="0">
            <a:spAutoFit/>
          </a:bodyPr>
          <a:lstStyle/>
          <a:p>
            <a:pPr marL="12700">
              <a:lnSpc>
                <a:spcPct val="100000"/>
              </a:lnSpc>
              <a:spcBef>
                <a:spcPts val="95"/>
              </a:spcBef>
            </a:pPr>
            <a:r>
              <a:rPr sz="1000" spc="-50" dirty="0">
                <a:latin typeface="Calibri"/>
                <a:cs typeface="Calibri"/>
              </a:rPr>
              <a:t>0</a:t>
            </a:r>
            <a:endParaRPr sz="1000">
              <a:latin typeface="Calibri"/>
              <a:cs typeface="Calibri"/>
            </a:endParaRPr>
          </a:p>
        </p:txBody>
      </p:sp>
      <p:sp>
        <p:nvSpPr>
          <p:cNvPr id="43" name="object 43"/>
          <p:cNvSpPr txBox="1"/>
          <p:nvPr/>
        </p:nvSpPr>
        <p:spPr>
          <a:xfrm>
            <a:off x="4539234" y="5668467"/>
            <a:ext cx="31496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2,000</a:t>
            </a:r>
            <a:endParaRPr sz="1000">
              <a:latin typeface="Calibri"/>
              <a:cs typeface="Calibri"/>
            </a:endParaRPr>
          </a:p>
        </p:txBody>
      </p:sp>
      <p:sp>
        <p:nvSpPr>
          <p:cNvPr id="44" name="object 44"/>
          <p:cNvSpPr txBox="1"/>
          <p:nvPr/>
        </p:nvSpPr>
        <p:spPr>
          <a:xfrm>
            <a:off x="5161534" y="5668467"/>
            <a:ext cx="31496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4,000</a:t>
            </a:r>
            <a:endParaRPr sz="1000">
              <a:latin typeface="Calibri"/>
              <a:cs typeface="Calibri"/>
            </a:endParaRPr>
          </a:p>
        </p:txBody>
      </p:sp>
      <p:sp>
        <p:nvSpPr>
          <p:cNvPr id="45" name="object 45"/>
          <p:cNvSpPr txBox="1"/>
          <p:nvPr/>
        </p:nvSpPr>
        <p:spPr>
          <a:xfrm>
            <a:off x="5783960" y="5668467"/>
            <a:ext cx="31496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6,000</a:t>
            </a:r>
            <a:endParaRPr sz="1000">
              <a:latin typeface="Calibri"/>
              <a:cs typeface="Calibri"/>
            </a:endParaRPr>
          </a:p>
        </p:txBody>
      </p:sp>
      <p:sp>
        <p:nvSpPr>
          <p:cNvPr id="46" name="object 46"/>
          <p:cNvSpPr txBox="1"/>
          <p:nvPr/>
        </p:nvSpPr>
        <p:spPr>
          <a:xfrm>
            <a:off x="6996810" y="5668467"/>
            <a:ext cx="37909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10,000</a:t>
            </a:r>
            <a:endParaRPr sz="1000">
              <a:latin typeface="Calibri"/>
              <a:cs typeface="Calibri"/>
            </a:endParaRPr>
          </a:p>
        </p:txBody>
      </p:sp>
      <p:sp>
        <p:nvSpPr>
          <p:cNvPr id="47" name="object 47"/>
          <p:cNvSpPr txBox="1"/>
          <p:nvPr/>
        </p:nvSpPr>
        <p:spPr>
          <a:xfrm>
            <a:off x="7619238" y="5668467"/>
            <a:ext cx="37909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12,000</a:t>
            </a:r>
            <a:endParaRPr sz="1000">
              <a:latin typeface="Calibri"/>
              <a:cs typeface="Calibri"/>
            </a:endParaRPr>
          </a:p>
        </p:txBody>
      </p:sp>
      <p:sp>
        <p:nvSpPr>
          <p:cNvPr id="48" name="object 48"/>
          <p:cNvSpPr txBox="1"/>
          <p:nvPr/>
        </p:nvSpPr>
        <p:spPr>
          <a:xfrm>
            <a:off x="8241538" y="5668467"/>
            <a:ext cx="37909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14,000</a:t>
            </a:r>
            <a:endParaRPr sz="1000">
              <a:latin typeface="Calibri"/>
              <a:cs typeface="Calibri"/>
            </a:endParaRPr>
          </a:p>
        </p:txBody>
      </p:sp>
      <p:sp>
        <p:nvSpPr>
          <p:cNvPr id="49" name="object 49"/>
          <p:cNvSpPr txBox="1"/>
          <p:nvPr/>
        </p:nvSpPr>
        <p:spPr>
          <a:xfrm>
            <a:off x="8863965" y="5668467"/>
            <a:ext cx="37909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16,000</a:t>
            </a:r>
            <a:endParaRPr sz="1000">
              <a:latin typeface="Calibri"/>
              <a:cs typeface="Calibri"/>
            </a:endParaRPr>
          </a:p>
        </p:txBody>
      </p:sp>
      <p:sp>
        <p:nvSpPr>
          <p:cNvPr id="50" name="object 50"/>
          <p:cNvSpPr txBox="1"/>
          <p:nvPr/>
        </p:nvSpPr>
        <p:spPr>
          <a:xfrm>
            <a:off x="3220973" y="5368290"/>
            <a:ext cx="747395"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MySQL</a:t>
            </a:r>
            <a:r>
              <a:rPr sz="1000" spc="-45" dirty="0">
                <a:latin typeface="Calibri"/>
                <a:cs typeface="Calibri"/>
              </a:rPr>
              <a:t> </a:t>
            </a:r>
            <a:r>
              <a:rPr sz="1000" spc="-10" dirty="0">
                <a:latin typeface="Calibri"/>
                <a:cs typeface="Calibri"/>
              </a:rPr>
              <a:t>Server</a:t>
            </a:r>
            <a:endParaRPr sz="1000">
              <a:latin typeface="Calibri"/>
              <a:cs typeface="Calibri"/>
            </a:endParaRPr>
          </a:p>
        </p:txBody>
      </p:sp>
      <p:sp>
        <p:nvSpPr>
          <p:cNvPr id="51" name="object 51"/>
          <p:cNvSpPr txBox="1"/>
          <p:nvPr/>
        </p:nvSpPr>
        <p:spPr>
          <a:xfrm>
            <a:off x="3354451" y="4834509"/>
            <a:ext cx="946150" cy="447675"/>
          </a:xfrm>
          <a:prstGeom prst="rect">
            <a:avLst/>
          </a:prstGeom>
        </p:spPr>
        <p:txBody>
          <a:bodyPr vert="horz" wrap="square" lIns="0" tIns="12065" rIns="0" bIns="0" rtlCol="0">
            <a:spAutoFit/>
          </a:bodyPr>
          <a:lstStyle/>
          <a:p>
            <a:pPr marL="338455">
              <a:lnSpc>
                <a:spcPct val="100000"/>
              </a:lnSpc>
              <a:spcBef>
                <a:spcPts val="95"/>
              </a:spcBef>
              <a:tabLst>
                <a:tab pos="805180" algn="l"/>
              </a:tabLst>
            </a:pPr>
            <a:r>
              <a:rPr sz="1500" spc="-15" baseline="2777" dirty="0">
                <a:latin typeface="Calibri"/>
                <a:cs typeface="Calibri"/>
              </a:rPr>
              <a:t>Scala</a:t>
            </a:r>
            <a:r>
              <a:rPr sz="1500" baseline="2777" dirty="0">
                <a:latin typeface="Calibri"/>
                <a:cs typeface="Calibri"/>
              </a:rPr>
              <a:t>	</a:t>
            </a:r>
            <a:r>
              <a:rPr sz="1000" spc="-25" dirty="0">
                <a:latin typeface="Calibri"/>
                <a:cs typeface="Calibri"/>
              </a:rPr>
              <a:t>33</a:t>
            </a:r>
            <a:endParaRPr sz="1000">
              <a:latin typeface="Calibri"/>
              <a:cs typeface="Calibri"/>
            </a:endParaRPr>
          </a:p>
          <a:p>
            <a:pPr marL="12700">
              <a:lnSpc>
                <a:spcPct val="100000"/>
              </a:lnSpc>
              <a:spcBef>
                <a:spcPts val="930"/>
              </a:spcBef>
              <a:tabLst>
                <a:tab pos="798195" algn="l"/>
              </a:tabLst>
            </a:pPr>
            <a:r>
              <a:rPr sz="1500" spc="-15" baseline="2777" dirty="0">
                <a:latin typeface="Calibri"/>
                <a:cs typeface="Calibri"/>
              </a:rPr>
              <a:t>PostgreSQL</a:t>
            </a:r>
            <a:r>
              <a:rPr sz="1500" baseline="2777" dirty="0">
                <a:latin typeface="Calibri"/>
                <a:cs typeface="Calibri"/>
              </a:rPr>
              <a:t>	</a:t>
            </a:r>
            <a:r>
              <a:rPr sz="1000" spc="-25" dirty="0">
                <a:latin typeface="Calibri"/>
                <a:cs typeface="Calibri"/>
              </a:rPr>
              <a:t>10</a:t>
            </a:r>
            <a:endParaRPr sz="1000">
              <a:latin typeface="Calibri"/>
              <a:cs typeface="Calibri"/>
            </a:endParaRPr>
          </a:p>
        </p:txBody>
      </p:sp>
      <p:sp>
        <p:nvSpPr>
          <p:cNvPr id="52" name="object 52"/>
          <p:cNvSpPr txBox="1"/>
          <p:nvPr/>
        </p:nvSpPr>
        <p:spPr>
          <a:xfrm>
            <a:off x="3427221" y="4557217"/>
            <a:ext cx="54165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MongoDB</a:t>
            </a:r>
            <a:endParaRPr sz="1000">
              <a:latin typeface="Calibri"/>
              <a:cs typeface="Calibri"/>
            </a:endParaRPr>
          </a:p>
        </p:txBody>
      </p:sp>
      <p:sp>
        <p:nvSpPr>
          <p:cNvPr id="53" name="object 53"/>
          <p:cNvSpPr txBox="1"/>
          <p:nvPr/>
        </p:nvSpPr>
        <p:spPr>
          <a:xfrm>
            <a:off x="3387090" y="4287139"/>
            <a:ext cx="581660"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libri"/>
                <a:cs typeface="Calibri"/>
              </a:rPr>
              <a:t>SQL</a:t>
            </a:r>
            <a:r>
              <a:rPr sz="1000" spc="-45" dirty="0">
                <a:latin typeface="Calibri"/>
                <a:cs typeface="Calibri"/>
              </a:rPr>
              <a:t> </a:t>
            </a:r>
            <a:r>
              <a:rPr sz="1000" spc="-10" dirty="0">
                <a:latin typeface="Calibri"/>
                <a:cs typeface="Calibri"/>
              </a:rPr>
              <a:t>Server</a:t>
            </a:r>
            <a:endParaRPr sz="1000">
              <a:latin typeface="Calibri"/>
              <a:cs typeface="Calibri"/>
            </a:endParaRPr>
          </a:p>
        </p:txBody>
      </p:sp>
      <p:sp>
        <p:nvSpPr>
          <p:cNvPr id="54" name="object 54"/>
          <p:cNvSpPr txBox="1"/>
          <p:nvPr/>
        </p:nvSpPr>
        <p:spPr>
          <a:xfrm>
            <a:off x="3749421" y="4016755"/>
            <a:ext cx="219710"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C++</a:t>
            </a:r>
            <a:endParaRPr sz="1000">
              <a:latin typeface="Calibri"/>
              <a:cs typeface="Calibri"/>
            </a:endParaRPr>
          </a:p>
        </p:txBody>
      </p:sp>
      <p:sp>
        <p:nvSpPr>
          <p:cNvPr id="55" name="object 55"/>
          <p:cNvSpPr txBox="1"/>
          <p:nvPr/>
        </p:nvSpPr>
        <p:spPr>
          <a:xfrm>
            <a:off x="3812794" y="3746372"/>
            <a:ext cx="155575"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C#</a:t>
            </a:r>
            <a:endParaRPr sz="1000">
              <a:latin typeface="Calibri"/>
              <a:cs typeface="Calibri"/>
            </a:endParaRPr>
          </a:p>
        </p:txBody>
      </p:sp>
      <p:sp>
        <p:nvSpPr>
          <p:cNvPr id="56" name="object 56"/>
          <p:cNvSpPr txBox="1"/>
          <p:nvPr/>
        </p:nvSpPr>
        <p:spPr>
          <a:xfrm>
            <a:off x="3429380" y="3475990"/>
            <a:ext cx="53975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JavaScript</a:t>
            </a:r>
            <a:endParaRPr sz="1000">
              <a:latin typeface="Calibri"/>
              <a:cs typeface="Calibri"/>
            </a:endParaRPr>
          </a:p>
        </p:txBody>
      </p:sp>
      <p:sp>
        <p:nvSpPr>
          <p:cNvPr id="57" name="object 57"/>
          <p:cNvSpPr txBox="1"/>
          <p:nvPr/>
        </p:nvSpPr>
        <p:spPr>
          <a:xfrm>
            <a:off x="3608323" y="3205733"/>
            <a:ext cx="36131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Oracle</a:t>
            </a:r>
            <a:endParaRPr sz="1000">
              <a:latin typeface="Calibri"/>
              <a:cs typeface="Calibri"/>
            </a:endParaRPr>
          </a:p>
        </p:txBody>
      </p:sp>
      <p:sp>
        <p:nvSpPr>
          <p:cNvPr id="58" name="object 58"/>
          <p:cNvSpPr txBox="1"/>
          <p:nvPr/>
        </p:nvSpPr>
        <p:spPr>
          <a:xfrm>
            <a:off x="3577590" y="2935604"/>
            <a:ext cx="39052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Python</a:t>
            </a:r>
            <a:endParaRPr sz="1000">
              <a:latin typeface="Calibri"/>
              <a:cs typeface="Calibri"/>
            </a:endParaRPr>
          </a:p>
        </p:txBody>
      </p:sp>
      <p:sp>
        <p:nvSpPr>
          <p:cNvPr id="59" name="object 59"/>
          <p:cNvSpPr txBox="1"/>
          <p:nvPr/>
        </p:nvSpPr>
        <p:spPr>
          <a:xfrm>
            <a:off x="3724147" y="2665222"/>
            <a:ext cx="244475"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alibri"/>
                <a:cs typeface="Calibri"/>
              </a:rPr>
              <a:t>Java</a:t>
            </a:r>
            <a:endParaRPr sz="1000">
              <a:latin typeface="Calibri"/>
              <a:cs typeface="Calibri"/>
            </a:endParaRPr>
          </a:p>
        </p:txBody>
      </p:sp>
      <p:sp>
        <p:nvSpPr>
          <p:cNvPr id="60" name="object 60"/>
          <p:cNvSpPr txBox="1"/>
          <p:nvPr/>
        </p:nvSpPr>
        <p:spPr>
          <a:xfrm>
            <a:off x="3875913" y="2394966"/>
            <a:ext cx="93345" cy="177800"/>
          </a:xfrm>
          <a:prstGeom prst="rect">
            <a:avLst/>
          </a:prstGeom>
        </p:spPr>
        <p:txBody>
          <a:bodyPr vert="horz" wrap="square" lIns="0" tIns="12065" rIns="0" bIns="0" rtlCol="0">
            <a:spAutoFit/>
          </a:bodyPr>
          <a:lstStyle/>
          <a:p>
            <a:pPr marL="12700">
              <a:lnSpc>
                <a:spcPct val="100000"/>
              </a:lnSpc>
              <a:spcBef>
                <a:spcPts val="95"/>
              </a:spcBef>
            </a:pPr>
            <a:r>
              <a:rPr sz="1000" spc="-50" dirty="0">
                <a:latin typeface="Calibri"/>
                <a:cs typeface="Calibri"/>
              </a:rPr>
              <a:t>C</a:t>
            </a:r>
            <a:endParaRPr sz="1000">
              <a:latin typeface="Calibri"/>
              <a:cs typeface="Calibri"/>
            </a:endParaRPr>
          </a:p>
        </p:txBody>
      </p:sp>
      <p:sp>
        <p:nvSpPr>
          <p:cNvPr id="61" name="object 61"/>
          <p:cNvSpPr txBox="1"/>
          <p:nvPr/>
        </p:nvSpPr>
        <p:spPr>
          <a:xfrm>
            <a:off x="6137909" y="5627014"/>
            <a:ext cx="850265" cy="412115"/>
          </a:xfrm>
          <a:prstGeom prst="rect">
            <a:avLst/>
          </a:prstGeom>
        </p:spPr>
        <p:txBody>
          <a:bodyPr vert="horz" wrap="square" lIns="0" tIns="53340" rIns="0" bIns="0" rtlCol="0">
            <a:spAutoFit/>
          </a:bodyPr>
          <a:lstStyle/>
          <a:p>
            <a:pPr marL="1270" algn="ctr">
              <a:lnSpc>
                <a:spcPct val="100000"/>
              </a:lnSpc>
              <a:spcBef>
                <a:spcPts val="420"/>
              </a:spcBef>
            </a:pPr>
            <a:r>
              <a:rPr sz="1000" spc="-10" dirty="0">
                <a:latin typeface="Calibri"/>
                <a:cs typeface="Calibri"/>
              </a:rPr>
              <a:t>8,000</a:t>
            </a:r>
            <a:endParaRPr sz="1000">
              <a:latin typeface="Calibri"/>
              <a:cs typeface="Calibri"/>
            </a:endParaRPr>
          </a:p>
          <a:p>
            <a:pPr algn="ctr">
              <a:lnSpc>
                <a:spcPct val="100000"/>
              </a:lnSpc>
              <a:spcBef>
                <a:spcPts val="325"/>
              </a:spcBef>
            </a:pPr>
            <a:r>
              <a:rPr sz="1000" b="1" dirty="0">
                <a:latin typeface="Calibri"/>
                <a:cs typeface="Calibri"/>
              </a:rPr>
              <a:t>Number</a:t>
            </a:r>
            <a:r>
              <a:rPr sz="1000" b="1" spc="-35" dirty="0">
                <a:latin typeface="Calibri"/>
                <a:cs typeface="Calibri"/>
              </a:rPr>
              <a:t> </a:t>
            </a:r>
            <a:r>
              <a:rPr sz="1000" b="1" dirty="0">
                <a:latin typeface="Calibri"/>
                <a:cs typeface="Calibri"/>
              </a:rPr>
              <a:t>of</a:t>
            </a:r>
            <a:r>
              <a:rPr sz="1000" b="1" spc="-20" dirty="0">
                <a:latin typeface="Calibri"/>
                <a:cs typeface="Calibri"/>
              </a:rPr>
              <a:t> Jobs</a:t>
            </a:r>
            <a:endParaRPr sz="1000">
              <a:latin typeface="Calibri"/>
              <a:cs typeface="Calibri"/>
            </a:endParaRPr>
          </a:p>
        </p:txBody>
      </p:sp>
      <p:sp>
        <p:nvSpPr>
          <p:cNvPr id="62" name="object 62"/>
          <p:cNvSpPr txBox="1"/>
          <p:nvPr/>
        </p:nvSpPr>
        <p:spPr>
          <a:xfrm>
            <a:off x="3053460" y="3671928"/>
            <a:ext cx="152400" cy="629285"/>
          </a:xfrm>
          <a:prstGeom prst="rect">
            <a:avLst/>
          </a:prstGeom>
        </p:spPr>
        <p:txBody>
          <a:bodyPr vert="vert270" wrap="square" lIns="0" tIns="0" rIns="0" bIns="0" rtlCol="0">
            <a:spAutoFit/>
          </a:bodyPr>
          <a:lstStyle/>
          <a:p>
            <a:pPr marL="12700">
              <a:lnSpc>
                <a:spcPts val="1045"/>
              </a:lnSpc>
            </a:pPr>
            <a:r>
              <a:rPr sz="1000" b="1" spc="-10" dirty="0">
                <a:latin typeface="Calibri"/>
                <a:cs typeface="Calibri"/>
              </a:rPr>
              <a:t>Technology</a:t>
            </a:r>
            <a:endParaRPr sz="1000">
              <a:latin typeface="Calibri"/>
              <a:cs typeface="Calibri"/>
            </a:endParaRPr>
          </a:p>
        </p:txBody>
      </p:sp>
      <p:sp>
        <p:nvSpPr>
          <p:cNvPr id="63" name="object 63"/>
          <p:cNvSpPr txBox="1"/>
          <p:nvPr/>
        </p:nvSpPr>
        <p:spPr>
          <a:xfrm>
            <a:off x="4487036" y="1756664"/>
            <a:ext cx="312293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Jobs</a:t>
            </a:r>
            <a:r>
              <a:rPr sz="1800" b="1" spc="-45" dirty="0">
                <a:latin typeface="Calibri"/>
                <a:cs typeface="Calibri"/>
              </a:rPr>
              <a:t> </a:t>
            </a:r>
            <a:r>
              <a:rPr sz="1800" b="1" dirty="0">
                <a:latin typeface="Calibri"/>
                <a:cs typeface="Calibri"/>
              </a:rPr>
              <a:t>Posting</a:t>
            </a:r>
            <a:r>
              <a:rPr sz="1800" b="1" spc="-55" dirty="0">
                <a:latin typeface="Calibri"/>
                <a:cs typeface="Calibri"/>
              </a:rPr>
              <a:t> </a:t>
            </a:r>
            <a:r>
              <a:rPr sz="1800" b="1" dirty="0">
                <a:latin typeface="Calibri"/>
                <a:cs typeface="Calibri"/>
              </a:rPr>
              <a:t>for</a:t>
            </a:r>
            <a:r>
              <a:rPr sz="1800" b="1" spc="-35" dirty="0">
                <a:latin typeface="Calibri"/>
                <a:cs typeface="Calibri"/>
              </a:rPr>
              <a:t> </a:t>
            </a:r>
            <a:r>
              <a:rPr sz="1800" b="1" dirty="0">
                <a:latin typeface="Calibri"/>
                <a:cs typeface="Calibri"/>
              </a:rPr>
              <a:t>Each</a:t>
            </a:r>
            <a:r>
              <a:rPr sz="1800" b="1" spc="-30" dirty="0">
                <a:latin typeface="Calibri"/>
                <a:cs typeface="Calibri"/>
              </a:rPr>
              <a:t> </a:t>
            </a:r>
            <a:r>
              <a:rPr sz="1800" b="1" spc="-10" dirty="0">
                <a:latin typeface="Calibri"/>
                <a:cs typeface="Calibri"/>
              </a:rPr>
              <a:t>Technology</a:t>
            </a:r>
            <a:endParaRPr sz="18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31868" y="774395"/>
            <a:ext cx="3996132" cy="625043"/>
          </a:xfrm>
          <a:prstGeom prst="rect">
            <a:avLst/>
          </a:prstGeom>
        </p:spPr>
        <p:txBody>
          <a:bodyPr vert="horz" wrap="square" lIns="0" tIns="131318" rIns="0" bIns="0" rtlCol="0">
            <a:spAutoFit/>
          </a:bodyPr>
          <a:lstStyle/>
          <a:p>
            <a:pPr marL="12700">
              <a:lnSpc>
                <a:spcPct val="100000"/>
              </a:lnSpc>
              <a:spcBef>
                <a:spcPts val="95"/>
              </a:spcBef>
            </a:pPr>
            <a:r>
              <a:rPr sz="3200" dirty="0"/>
              <a:t>POPULAR</a:t>
            </a:r>
            <a:r>
              <a:rPr sz="3200" spc="-15" dirty="0"/>
              <a:t> </a:t>
            </a:r>
            <a:r>
              <a:rPr sz="3200" spc="-25" dirty="0"/>
              <a:t>LANGUAGES</a:t>
            </a:r>
          </a:p>
        </p:txBody>
      </p:sp>
      <p:grpSp>
        <p:nvGrpSpPr>
          <p:cNvPr id="3" name="object 3"/>
          <p:cNvGrpSpPr/>
          <p:nvPr/>
        </p:nvGrpSpPr>
        <p:grpSpPr>
          <a:xfrm>
            <a:off x="3825240" y="2488692"/>
            <a:ext cx="5274945" cy="3037840"/>
            <a:chOff x="3825240" y="2488692"/>
            <a:chExt cx="5274945" cy="3037840"/>
          </a:xfrm>
        </p:grpSpPr>
        <p:sp>
          <p:nvSpPr>
            <p:cNvPr id="4" name="object 4"/>
            <p:cNvSpPr/>
            <p:nvPr/>
          </p:nvSpPr>
          <p:spPr>
            <a:xfrm>
              <a:off x="4613148" y="2493264"/>
              <a:ext cx="4482465" cy="2993390"/>
            </a:xfrm>
            <a:custGeom>
              <a:avLst/>
              <a:gdLst/>
              <a:ahLst/>
              <a:cxnLst/>
              <a:rect l="l" t="t" r="r" b="b"/>
              <a:pathLst>
                <a:path w="4482465" h="2993390">
                  <a:moveTo>
                    <a:pt x="0" y="0"/>
                  </a:moveTo>
                  <a:lnTo>
                    <a:pt x="0" y="2993136"/>
                  </a:lnTo>
                </a:path>
                <a:path w="4482465" h="2993390">
                  <a:moveTo>
                    <a:pt x="746760" y="0"/>
                  </a:moveTo>
                  <a:lnTo>
                    <a:pt x="746760" y="2993136"/>
                  </a:lnTo>
                </a:path>
                <a:path w="4482465" h="2993390">
                  <a:moveTo>
                    <a:pt x="1493519" y="0"/>
                  </a:moveTo>
                  <a:lnTo>
                    <a:pt x="1493519" y="2993136"/>
                  </a:lnTo>
                </a:path>
                <a:path w="4482465" h="2993390">
                  <a:moveTo>
                    <a:pt x="2241804" y="0"/>
                  </a:moveTo>
                  <a:lnTo>
                    <a:pt x="2241804" y="2993136"/>
                  </a:lnTo>
                </a:path>
                <a:path w="4482465" h="2993390">
                  <a:moveTo>
                    <a:pt x="2988563" y="0"/>
                  </a:moveTo>
                  <a:lnTo>
                    <a:pt x="2988563" y="2993136"/>
                  </a:lnTo>
                </a:path>
                <a:path w="4482465" h="2993390">
                  <a:moveTo>
                    <a:pt x="3735324" y="0"/>
                  </a:moveTo>
                  <a:lnTo>
                    <a:pt x="3735324" y="2993136"/>
                  </a:lnTo>
                </a:path>
                <a:path w="4482465" h="2993390">
                  <a:moveTo>
                    <a:pt x="4482083" y="0"/>
                  </a:moveTo>
                  <a:lnTo>
                    <a:pt x="4482083" y="2993136"/>
                  </a:lnTo>
                </a:path>
              </a:pathLst>
            </a:custGeom>
            <a:ln w="9144">
              <a:solidFill>
                <a:srgbClr val="858585"/>
              </a:solidFill>
            </a:ln>
          </p:spPr>
          <p:txBody>
            <a:bodyPr wrap="square" lIns="0" tIns="0" rIns="0" bIns="0" rtlCol="0"/>
            <a:lstStyle/>
            <a:p>
              <a:endParaRPr/>
            </a:p>
          </p:txBody>
        </p:sp>
        <p:pic>
          <p:nvPicPr>
            <p:cNvPr id="5" name="object 5"/>
            <p:cNvPicPr/>
            <p:nvPr/>
          </p:nvPicPr>
          <p:blipFill>
            <a:blip r:embed="rId2" cstate="print"/>
            <a:stretch>
              <a:fillRect/>
            </a:stretch>
          </p:blipFill>
          <p:spPr>
            <a:xfrm>
              <a:off x="3864864" y="5257800"/>
              <a:ext cx="3208019" cy="204215"/>
            </a:xfrm>
            <a:prstGeom prst="rect">
              <a:avLst/>
            </a:prstGeom>
          </p:spPr>
        </p:pic>
        <p:pic>
          <p:nvPicPr>
            <p:cNvPr id="6" name="object 6"/>
            <p:cNvPicPr/>
            <p:nvPr/>
          </p:nvPicPr>
          <p:blipFill>
            <a:blip r:embed="rId3" cstate="print"/>
            <a:stretch>
              <a:fillRect/>
            </a:stretch>
          </p:blipFill>
          <p:spPr>
            <a:xfrm>
              <a:off x="3864864" y="4957572"/>
              <a:ext cx="3211067" cy="205739"/>
            </a:xfrm>
            <a:prstGeom prst="rect">
              <a:avLst/>
            </a:prstGeom>
          </p:spPr>
        </p:pic>
        <p:pic>
          <p:nvPicPr>
            <p:cNvPr id="7" name="object 7"/>
            <p:cNvPicPr/>
            <p:nvPr/>
          </p:nvPicPr>
          <p:blipFill>
            <a:blip r:embed="rId4" cstate="print"/>
            <a:stretch>
              <a:fillRect/>
            </a:stretch>
          </p:blipFill>
          <p:spPr>
            <a:xfrm>
              <a:off x="3864864" y="4658868"/>
              <a:ext cx="3357372" cy="204216"/>
            </a:xfrm>
            <a:prstGeom prst="rect">
              <a:avLst/>
            </a:prstGeom>
          </p:spPr>
        </p:pic>
        <p:pic>
          <p:nvPicPr>
            <p:cNvPr id="8" name="object 8"/>
            <p:cNvPicPr/>
            <p:nvPr/>
          </p:nvPicPr>
          <p:blipFill>
            <a:blip r:embed="rId5" cstate="print"/>
            <a:stretch>
              <a:fillRect/>
            </a:stretch>
          </p:blipFill>
          <p:spPr>
            <a:xfrm>
              <a:off x="3864864" y="4360164"/>
              <a:ext cx="3482340" cy="204216"/>
            </a:xfrm>
            <a:prstGeom prst="rect">
              <a:avLst/>
            </a:prstGeom>
          </p:spPr>
        </p:pic>
        <p:pic>
          <p:nvPicPr>
            <p:cNvPr id="9" name="object 9"/>
            <p:cNvPicPr/>
            <p:nvPr/>
          </p:nvPicPr>
          <p:blipFill>
            <a:blip r:embed="rId6" cstate="print"/>
            <a:stretch>
              <a:fillRect/>
            </a:stretch>
          </p:blipFill>
          <p:spPr>
            <a:xfrm>
              <a:off x="3864864" y="4059936"/>
              <a:ext cx="3558540" cy="205739"/>
            </a:xfrm>
            <a:prstGeom prst="rect">
              <a:avLst/>
            </a:prstGeom>
          </p:spPr>
        </p:pic>
        <p:pic>
          <p:nvPicPr>
            <p:cNvPr id="10" name="object 10"/>
            <p:cNvPicPr/>
            <p:nvPr/>
          </p:nvPicPr>
          <p:blipFill>
            <a:blip r:embed="rId7" cstate="print"/>
            <a:stretch>
              <a:fillRect/>
            </a:stretch>
          </p:blipFill>
          <p:spPr>
            <a:xfrm>
              <a:off x="3864864" y="3761232"/>
              <a:ext cx="3817619" cy="204215"/>
            </a:xfrm>
            <a:prstGeom prst="rect">
              <a:avLst/>
            </a:prstGeom>
          </p:spPr>
        </p:pic>
        <p:pic>
          <p:nvPicPr>
            <p:cNvPr id="11" name="object 11"/>
            <p:cNvPicPr/>
            <p:nvPr/>
          </p:nvPicPr>
          <p:blipFill>
            <a:blip r:embed="rId8" cstate="print"/>
            <a:stretch>
              <a:fillRect/>
            </a:stretch>
          </p:blipFill>
          <p:spPr>
            <a:xfrm>
              <a:off x="3864864" y="3461004"/>
              <a:ext cx="4189476" cy="205740"/>
            </a:xfrm>
            <a:prstGeom prst="rect">
              <a:avLst/>
            </a:prstGeom>
          </p:spPr>
        </p:pic>
        <p:pic>
          <p:nvPicPr>
            <p:cNvPr id="12" name="object 12"/>
            <p:cNvPicPr/>
            <p:nvPr/>
          </p:nvPicPr>
          <p:blipFill>
            <a:blip r:embed="rId9" cstate="print"/>
            <a:stretch>
              <a:fillRect/>
            </a:stretch>
          </p:blipFill>
          <p:spPr>
            <a:xfrm>
              <a:off x="3864864" y="3162300"/>
              <a:ext cx="4297680" cy="205739"/>
            </a:xfrm>
            <a:prstGeom prst="rect">
              <a:avLst/>
            </a:prstGeom>
          </p:spPr>
        </p:pic>
        <p:pic>
          <p:nvPicPr>
            <p:cNvPr id="13" name="object 13"/>
            <p:cNvPicPr/>
            <p:nvPr/>
          </p:nvPicPr>
          <p:blipFill>
            <a:blip r:embed="rId10" cstate="print"/>
            <a:stretch>
              <a:fillRect/>
            </a:stretch>
          </p:blipFill>
          <p:spPr>
            <a:xfrm>
              <a:off x="3864864" y="2863596"/>
              <a:ext cx="4315968" cy="204215"/>
            </a:xfrm>
            <a:prstGeom prst="rect">
              <a:avLst/>
            </a:prstGeom>
          </p:spPr>
        </p:pic>
        <p:pic>
          <p:nvPicPr>
            <p:cNvPr id="14" name="object 14"/>
            <p:cNvPicPr/>
            <p:nvPr/>
          </p:nvPicPr>
          <p:blipFill>
            <a:blip r:embed="rId11" cstate="print"/>
            <a:stretch>
              <a:fillRect/>
            </a:stretch>
          </p:blipFill>
          <p:spPr>
            <a:xfrm>
              <a:off x="3864864" y="2563368"/>
              <a:ext cx="4930140" cy="205739"/>
            </a:xfrm>
            <a:prstGeom prst="rect">
              <a:avLst/>
            </a:prstGeom>
          </p:spPr>
        </p:pic>
        <p:pic>
          <p:nvPicPr>
            <p:cNvPr id="15" name="object 15"/>
            <p:cNvPicPr/>
            <p:nvPr/>
          </p:nvPicPr>
          <p:blipFill>
            <a:blip r:embed="rId12" cstate="print"/>
            <a:stretch>
              <a:fillRect/>
            </a:stretch>
          </p:blipFill>
          <p:spPr>
            <a:xfrm>
              <a:off x="3865499" y="5277027"/>
              <a:ext cx="3165348" cy="119710"/>
            </a:xfrm>
            <a:prstGeom prst="rect">
              <a:avLst/>
            </a:prstGeom>
          </p:spPr>
        </p:pic>
        <p:pic>
          <p:nvPicPr>
            <p:cNvPr id="16" name="object 16"/>
            <p:cNvPicPr/>
            <p:nvPr/>
          </p:nvPicPr>
          <p:blipFill>
            <a:blip r:embed="rId13" cstate="print"/>
            <a:stretch>
              <a:fillRect/>
            </a:stretch>
          </p:blipFill>
          <p:spPr>
            <a:xfrm>
              <a:off x="3865499" y="4977688"/>
              <a:ext cx="3167760" cy="119710"/>
            </a:xfrm>
            <a:prstGeom prst="rect">
              <a:avLst/>
            </a:prstGeom>
          </p:spPr>
        </p:pic>
        <p:pic>
          <p:nvPicPr>
            <p:cNvPr id="17" name="object 17"/>
            <p:cNvPicPr/>
            <p:nvPr/>
          </p:nvPicPr>
          <p:blipFill>
            <a:blip r:embed="rId14" cstate="print"/>
            <a:stretch>
              <a:fillRect/>
            </a:stretch>
          </p:blipFill>
          <p:spPr>
            <a:xfrm>
              <a:off x="3865499" y="4379136"/>
              <a:ext cx="3438398" cy="119711"/>
            </a:xfrm>
            <a:prstGeom prst="rect">
              <a:avLst/>
            </a:prstGeom>
          </p:spPr>
        </p:pic>
        <p:pic>
          <p:nvPicPr>
            <p:cNvPr id="18" name="object 18"/>
            <p:cNvPicPr/>
            <p:nvPr/>
          </p:nvPicPr>
          <p:blipFill>
            <a:blip r:embed="rId15" cstate="print"/>
            <a:stretch>
              <a:fillRect/>
            </a:stretch>
          </p:blipFill>
          <p:spPr>
            <a:xfrm>
              <a:off x="3865499" y="4678476"/>
              <a:ext cx="3314700" cy="119710"/>
            </a:xfrm>
            <a:prstGeom prst="rect">
              <a:avLst/>
            </a:prstGeom>
          </p:spPr>
        </p:pic>
        <p:pic>
          <p:nvPicPr>
            <p:cNvPr id="19" name="object 19"/>
            <p:cNvPicPr/>
            <p:nvPr/>
          </p:nvPicPr>
          <p:blipFill>
            <a:blip r:embed="rId16" cstate="print"/>
            <a:stretch>
              <a:fillRect/>
            </a:stretch>
          </p:blipFill>
          <p:spPr>
            <a:xfrm>
              <a:off x="3865499" y="4079924"/>
              <a:ext cx="3514725" cy="119711"/>
            </a:xfrm>
            <a:prstGeom prst="rect">
              <a:avLst/>
            </a:prstGeom>
          </p:spPr>
        </p:pic>
        <p:pic>
          <p:nvPicPr>
            <p:cNvPr id="20" name="object 20"/>
            <p:cNvPicPr/>
            <p:nvPr/>
          </p:nvPicPr>
          <p:blipFill>
            <a:blip r:embed="rId17" cstate="print"/>
            <a:stretch>
              <a:fillRect/>
            </a:stretch>
          </p:blipFill>
          <p:spPr>
            <a:xfrm>
              <a:off x="3865499" y="3780585"/>
              <a:ext cx="3773678" cy="119711"/>
            </a:xfrm>
            <a:prstGeom prst="rect">
              <a:avLst/>
            </a:prstGeom>
          </p:spPr>
        </p:pic>
        <p:pic>
          <p:nvPicPr>
            <p:cNvPr id="21" name="object 21"/>
            <p:cNvPicPr/>
            <p:nvPr/>
          </p:nvPicPr>
          <p:blipFill>
            <a:blip r:embed="rId18" cstate="print"/>
            <a:stretch>
              <a:fillRect/>
            </a:stretch>
          </p:blipFill>
          <p:spPr>
            <a:xfrm>
              <a:off x="3865499" y="3481373"/>
              <a:ext cx="4146041" cy="119711"/>
            </a:xfrm>
            <a:prstGeom prst="rect">
              <a:avLst/>
            </a:prstGeom>
          </p:spPr>
        </p:pic>
        <p:pic>
          <p:nvPicPr>
            <p:cNvPr id="22" name="object 22"/>
            <p:cNvPicPr/>
            <p:nvPr/>
          </p:nvPicPr>
          <p:blipFill>
            <a:blip r:embed="rId19" cstate="print"/>
            <a:stretch>
              <a:fillRect/>
            </a:stretch>
          </p:blipFill>
          <p:spPr>
            <a:xfrm>
              <a:off x="3865499" y="3182035"/>
              <a:ext cx="4253864" cy="119710"/>
            </a:xfrm>
            <a:prstGeom prst="rect">
              <a:avLst/>
            </a:prstGeom>
          </p:spPr>
        </p:pic>
        <p:pic>
          <p:nvPicPr>
            <p:cNvPr id="23" name="object 23"/>
            <p:cNvPicPr/>
            <p:nvPr/>
          </p:nvPicPr>
          <p:blipFill>
            <a:blip r:embed="rId20" cstate="print"/>
            <a:stretch>
              <a:fillRect/>
            </a:stretch>
          </p:blipFill>
          <p:spPr>
            <a:xfrm>
              <a:off x="3865499" y="2882823"/>
              <a:ext cx="4273169" cy="119710"/>
            </a:xfrm>
            <a:prstGeom prst="rect">
              <a:avLst/>
            </a:prstGeom>
          </p:spPr>
        </p:pic>
        <p:pic>
          <p:nvPicPr>
            <p:cNvPr id="24" name="object 24"/>
            <p:cNvPicPr/>
            <p:nvPr/>
          </p:nvPicPr>
          <p:blipFill>
            <a:blip r:embed="rId21" cstate="print"/>
            <a:stretch>
              <a:fillRect/>
            </a:stretch>
          </p:blipFill>
          <p:spPr>
            <a:xfrm>
              <a:off x="3865499" y="2583484"/>
              <a:ext cx="4886579" cy="119710"/>
            </a:xfrm>
            <a:prstGeom prst="rect">
              <a:avLst/>
            </a:prstGeom>
          </p:spPr>
        </p:pic>
        <p:sp>
          <p:nvSpPr>
            <p:cNvPr id="25" name="object 25"/>
            <p:cNvSpPr/>
            <p:nvPr/>
          </p:nvSpPr>
          <p:spPr>
            <a:xfrm>
              <a:off x="3864864" y="5486400"/>
              <a:ext cx="5230495" cy="0"/>
            </a:xfrm>
            <a:custGeom>
              <a:avLst/>
              <a:gdLst/>
              <a:ahLst/>
              <a:cxnLst/>
              <a:rect l="l" t="t" r="r" b="b"/>
              <a:pathLst>
                <a:path w="5230495">
                  <a:moveTo>
                    <a:pt x="0" y="0"/>
                  </a:moveTo>
                  <a:lnTo>
                    <a:pt x="5230368" y="0"/>
                  </a:lnTo>
                </a:path>
              </a:pathLst>
            </a:custGeom>
            <a:ln w="6096">
              <a:solidFill>
                <a:srgbClr val="8D8D8D"/>
              </a:solidFill>
            </a:ln>
          </p:spPr>
          <p:txBody>
            <a:bodyPr wrap="square" lIns="0" tIns="0" rIns="0" bIns="0" rtlCol="0"/>
            <a:lstStyle/>
            <a:p>
              <a:endParaRPr/>
            </a:p>
          </p:txBody>
        </p:sp>
        <p:sp>
          <p:nvSpPr>
            <p:cNvPr id="26" name="object 26"/>
            <p:cNvSpPr/>
            <p:nvPr/>
          </p:nvSpPr>
          <p:spPr>
            <a:xfrm>
              <a:off x="3864864" y="5486400"/>
              <a:ext cx="5230495" cy="40005"/>
            </a:xfrm>
            <a:custGeom>
              <a:avLst/>
              <a:gdLst/>
              <a:ahLst/>
              <a:cxnLst/>
              <a:rect l="l" t="t" r="r" b="b"/>
              <a:pathLst>
                <a:path w="5230495" h="40004">
                  <a:moveTo>
                    <a:pt x="0" y="0"/>
                  </a:moveTo>
                  <a:lnTo>
                    <a:pt x="0" y="39624"/>
                  </a:lnTo>
                </a:path>
                <a:path w="5230495" h="40004">
                  <a:moveTo>
                    <a:pt x="748284" y="0"/>
                  </a:moveTo>
                  <a:lnTo>
                    <a:pt x="748284" y="39624"/>
                  </a:lnTo>
                </a:path>
                <a:path w="5230495" h="40004">
                  <a:moveTo>
                    <a:pt x="1495044" y="0"/>
                  </a:moveTo>
                  <a:lnTo>
                    <a:pt x="1495044" y="39624"/>
                  </a:lnTo>
                </a:path>
                <a:path w="5230495" h="40004">
                  <a:moveTo>
                    <a:pt x="2241804" y="0"/>
                  </a:moveTo>
                  <a:lnTo>
                    <a:pt x="2241804" y="39624"/>
                  </a:lnTo>
                </a:path>
                <a:path w="5230495" h="40004">
                  <a:moveTo>
                    <a:pt x="2990088" y="0"/>
                  </a:moveTo>
                  <a:lnTo>
                    <a:pt x="2990088" y="39624"/>
                  </a:lnTo>
                </a:path>
                <a:path w="5230495" h="40004">
                  <a:moveTo>
                    <a:pt x="3736847" y="0"/>
                  </a:moveTo>
                  <a:lnTo>
                    <a:pt x="3736847" y="39624"/>
                  </a:lnTo>
                </a:path>
                <a:path w="5230495" h="40004">
                  <a:moveTo>
                    <a:pt x="4483608" y="0"/>
                  </a:moveTo>
                  <a:lnTo>
                    <a:pt x="4483608" y="39624"/>
                  </a:lnTo>
                </a:path>
                <a:path w="5230495" h="40004">
                  <a:moveTo>
                    <a:pt x="5230368" y="0"/>
                  </a:moveTo>
                  <a:lnTo>
                    <a:pt x="5230368" y="39624"/>
                  </a:lnTo>
                </a:path>
              </a:pathLst>
            </a:custGeom>
            <a:ln w="9144">
              <a:solidFill>
                <a:srgbClr val="858585"/>
              </a:solidFill>
            </a:ln>
          </p:spPr>
          <p:txBody>
            <a:bodyPr wrap="square" lIns="0" tIns="0" rIns="0" bIns="0" rtlCol="0"/>
            <a:lstStyle/>
            <a:p>
              <a:endParaRPr/>
            </a:p>
          </p:txBody>
        </p:sp>
        <p:sp>
          <p:nvSpPr>
            <p:cNvPr id="27" name="object 27"/>
            <p:cNvSpPr/>
            <p:nvPr/>
          </p:nvSpPr>
          <p:spPr>
            <a:xfrm>
              <a:off x="3864864" y="2493264"/>
              <a:ext cx="0" cy="2993390"/>
            </a:xfrm>
            <a:custGeom>
              <a:avLst/>
              <a:gdLst/>
              <a:ahLst/>
              <a:cxnLst/>
              <a:rect l="l" t="t" r="r" b="b"/>
              <a:pathLst>
                <a:path h="2993390">
                  <a:moveTo>
                    <a:pt x="0" y="2993136"/>
                  </a:moveTo>
                  <a:lnTo>
                    <a:pt x="0" y="0"/>
                  </a:lnTo>
                </a:path>
              </a:pathLst>
            </a:custGeom>
            <a:ln w="6096">
              <a:solidFill>
                <a:srgbClr val="8D8D8D"/>
              </a:solidFill>
            </a:ln>
          </p:spPr>
          <p:txBody>
            <a:bodyPr wrap="square" lIns="0" tIns="0" rIns="0" bIns="0" rtlCol="0"/>
            <a:lstStyle/>
            <a:p>
              <a:endParaRPr/>
            </a:p>
          </p:txBody>
        </p:sp>
        <p:sp>
          <p:nvSpPr>
            <p:cNvPr id="28" name="object 28"/>
            <p:cNvSpPr/>
            <p:nvPr/>
          </p:nvSpPr>
          <p:spPr>
            <a:xfrm>
              <a:off x="3825240" y="2493264"/>
              <a:ext cx="40005" cy="2993390"/>
            </a:xfrm>
            <a:custGeom>
              <a:avLst/>
              <a:gdLst/>
              <a:ahLst/>
              <a:cxnLst/>
              <a:rect l="l" t="t" r="r" b="b"/>
              <a:pathLst>
                <a:path w="40004" h="2993390">
                  <a:moveTo>
                    <a:pt x="0" y="2993136"/>
                  </a:moveTo>
                  <a:lnTo>
                    <a:pt x="39624" y="2993136"/>
                  </a:lnTo>
                </a:path>
                <a:path w="40004" h="2993390">
                  <a:moveTo>
                    <a:pt x="0" y="2692908"/>
                  </a:moveTo>
                  <a:lnTo>
                    <a:pt x="39624" y="2692908"/>
                  </a:lnTo>
                </a:path>
                <a:path w="40004" h="2993390">
                  <a:moveTo>
                    <a:pt x="0" y="2394204"/>
                  </a:moveTo>
                  <a:lnTo>
                    <a:pt x="39624" y="2394204"/>
                  </a:lnTo>
                </a:path>
                <a:path w="40004" h="2993390">
                  <a:moveTo>
                    <a:pt x="0" y="2095500"/>
                  </a:moveTo>
                  <a:lnTo>
                    <a:pt x="39624" y="2095500"/>
                  </a:lnTo>
                </a:path>
                <a:path w="40004" h="2993390">
                  <a:moveTo>
                    <a:pt x="0" y="1795272"/>
                  </a:moveTo>
                  <a:lnTo>
                    <a:pt x="39624" y="1795272"/>
                  </a:lnTo>
                </a:path>
                <a:path w="40004" h="2993390">
                  <a:moveTo>
                    <a:pt x="0" y="1496568"/>
                  </a:moveTo>
                  <a:lnTo>
                    <a:pt x="39624" y="1496568"/>
                  </a:lnTo>
                </a:path>
                <a:path w="40004" h="2993390">
                  <a:moveTo>
                    <a:pt x="0" y="1196340"/>
                  </a:moveTo>
                  <a:lnTo>
                    <a:pt x="39624" y="1196340"/>
                  </a:lnTo>
                </a:path>
                <a:path w="40004" h="2993390">
                  <a:moveTo>
                    <a:pt x="0" y="897636"/>
                  </a:moveTo>
                  <a:lnTo>
                    <a:pt x="39624" y="897636"/>
                  </a:lnTo>
                </a:path>
                <a:path w="40004" h="2993390">
                  <a:moveTo>
                    <a:pt x="0" y="598932"/>
                  </a:moveTo>
                  <a:lnTo>
                    <a:pt x="39624" y="598932"/>
                  </a:lnTo>
                </a:path>
                <a:path w="40004" h="2993390">
                  <a:moveTo>
                    <a:pt x="0" y="298703"/>
                  </a:moveTo>
                  <a:lnTo>
                    <a:pt x="39624" y="298703"/>
                  </a:lnTo>
                </a:path>
                <a:path w="40004" h="2993390">
                  <a:moveTo>
                    <a:pt x="0" y="0"/>
                  </a:moveTo>
                  <a:lnTo>
                    <a:pt x="39624" y="0"/>
                  </a:lnTo>
                </a:path>
              </a:pathLst>
            </a:custGeom>
            <a:ln w="9144">
              <a:solidFill>
                <a:srgbClr val="858585"/>
              </a:solidFill>
            </a:ln>
          </p:spPr>
          <p:txBody>
            <a:bodyPr wrap="square" lIns="0" tIns="0" rIns="0" bIns="0" rtlCol="0"/>
            <a:lstStyle/>
            <a:p>
              <a:endParaRPr/>
            </a:p>
          </p:txBody>
        </p:sp>
      </p:grpSp>
      <p:sp>
        <p:nvSpPr>
          <p:cNvPr id="29" name="object 29"/>
          <p:cNvSpPr txBox="1"/>
          <p:nvPr/>
        </p:nvSpPr>
        <p:spPr>
          <a:xfrm>
            <a:off x="6590792" y="4942459"/>
            <a:ext cx="377825"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84,793</a:t>
            </a:r>
            <a:endParaRPr sz="1000">
              <a:latin typeface="Calibri"/>
              <a:cs typeface="Calibri"/>
            </a:endParaRPr>
          </a:p>
        </p:txBody>
      </p:sp>
      <p:sp>
        <p:nvSpPr>
          <p:cNvPr id="30" name="object 30"/>
          <p:cNvSpPr txBox="1"/>
          <p:nvPr/>
        </p:nvSpPr>
        <p:spPr>
          <a:xfrm>
            <a:off x="6737984" y="4643120"/>
            <a:ext cx="377825"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88,726</a:t>
            </a:r>
            <a:endParaRPr sz="1000">
              <a:latin typeface="Calibri"/>
              <a:cs typeface="Calibri"/>
            </a:endParaRPr>
          </a:p>
        </p:txBody>
      </p:sp>
      <p:sp>
        <p:nvSpPr>
          <p:cNvPr id="31" name="object 31"/>
          <p:cNvSpPr txBox="1"/>
          <p:nvPr/>
        </p:nvSpPr>
        <p:spPr>
          <a:xfrm>
            <a:off x="6861429" y="4343780"/>
            <a:ext cx="377825"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92,037</a:t>
            </a:r>
            <a:endParaRPr sz="1000">
              <a:latin typeface="Calibri"/>
              <a:cs typeface="Calibri"/>
            </a:endParaRPr>
          </a:p>
        </p:txBody>
      </p:sp>
      <p:sp>
        <p:nvSpPr>
          <p:cNvPr id="32" name="object 32"/>
          <p:cNvSpPr txBox="1"/>
          <p:nvPr/>
        </p:nvSpPr>
        <p:spPr>
          <a:xfrm>
            <a:off x="6938009" y="4044441"/>
            <a:ext cx="377825"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94,082</a:t>
            </a:r>
            <a:endParaRPr sz="1000">
              <a:latin typeface="Calibri"/>
              <a:cs typeface="Calibri"/>
            </a:endParaRPr>
          </a:p>
        </p:txBody>
      </p:sp>
      <p:sp>
        <p:nvSpPr>
          <p:cNvPr id="33" name="object 33"/>
          <p:cNvSpPr txBox="1"/>
          <p:nvPr/>
        </p:nvSpPr>
        <p:spPr>
          <a:xfrm>
            <a:off x="7132701" y="3745229"/>
            <a:ext cx="441959"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101,013</a:t>
            </a:r>
            <a:endParaRPr sz="1000">
              <a:latin typeface="Calibri"/>
              <a:cs typeface="Calibri"/>
            </a:endParaRPr>
          </a:p>
        </p:txBody>
      </p:sp>
      <p:sp>
        <p:nvSpPr>
          <p:cNvPr id="34" name="object 34"/>
          <p:cNvSpPr txBox="1"/>
          <p:nvPr/>
        </p:nvSpPr>
        <p:spPr>
          <a:xfrm>
            <a:off x="7505192" y="3445586"/>
            <a:ext cx="441959"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110,981</a:t>
            </a:r>
            <a:endParaRPr sz="1000">
              <a:latin typeface="Calibri"/>
              <a:cs typeface="Calibri"/>
            </a:endParaRPr>
          </a:p>
        </p:txBody>
      </p:sp>
      <p:sp>
        <p:nvSpPr>
          <p:cNvPr id="35" name="object 35"/>
          <p:cNvSpPr txBox="1"/>
          <p:nvPr/>
        </p:nvSpPr>
        <p:spPr>
          <a:xfrm>
            <a:off x="7612760" y="3146298"/>
            <a:ext cx="441959"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113,865</a:t>
            </a:r>
            <a:endParaRPr sz="1000">
              <a:latin typeface="Calibri"/>
              <a:cs typeface="Calibri"/>
            </a:endParaRPr>
          </a:p>
        </p:txBody>
      </p:sp>
      <p:sp>
        <p:nvSpPr>
          <p:cNvPr id="36" name="object 36"/>
          <p:cNvSpPr txBox="1"/>
          <p:nvPr/>
        </p:nvSpPr>
        <p:spPr>
          <a:xfrm>
            <a:off x="7632318" y="2846958"/>
            <a:ext cx="441959"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114,383</a:t>
            </a:r>
            <a:endParaRPr sz="1000">
              <a:latin typeface="Calibri"/>
              <a:cs typeface="Calibri"/>
            </a:endParaRPr>
          </a:p>
        </p:txBody>
      </p:sp>
      <p:sp>
        <p:nvSpPr>
          <p:cNvPr id="37" name="object 37"/>
          <p:cNvSpPr txBox="1"/>
          <p:nvPr/>
        </p:nvSpPr>
        <p:spPr>
          <a:xfrm>
            <a:off x="8245856" y="2547619"/>
            <a:ext cx="441959"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Calibri"/>
                <a:cs typeface="Calibri"/>
              </a:rPr>
              <a:t>130,801</a:t>
            </a:r>
            <a:endParaRPr sz="1000">
              <a:latin typeface="Calibri"/>
              <a:cs typeface="Calibri"/>
            </a:endParaRPr>
          </a:p>
        </p:txBody>
      </p:sp>
      <p:sp>
        <p:nvSpPr>
          <p:cNvPr id="38" name="object 38"/>
          <p:cNvSpPr txBox="1"/>
          <p:nvPr/>
        </p:nvSpPr>
        <p:spPr>
          <a:xfrm>
            <a:off x="3821048" y="5549594"/>
            <a:ext cx="89535" cy="177800"/>
          </a:xfrm>
          <a:prstGeom prst="rect">
            <a:avLst/>
          </a:prstGeom>
        </p:spPr>
        <p:txBody>
          <a:bodyPr vert="horz" wrap="square" lIns="0" tIns="12065" rIns="0" bIns="0" rtlCol="0">
            <a:spAutoFit/>
          </a:bodyPr>
          <a:lstStyle/>
          <a:p>
            <a:pPr marL="12700">
              <a:lnSpc>
                <a:spcPct val="100000"/>
              </a:lnSpc>
              <a:spcBef>
                <a:spcPts val="95"/>
              </a:spcBef>
            </a:pPr>
            <a:r>
              <a:rPr sz="1000" spc="-50" dirty="0">
                <a:latin typeface="Calibri"/>
                <a:cs typeface="Calibri"/>
              </a:rPr>
              <a:t>0</a:t>
            </a:r>
            <a:endParaRPr sz="1000">
              <a:latin typeface="Calibri"/>
              <a:cs typeface="Calibri"/>
            </a:endParaRPr>
          </a:p>
        </p:txBody>
      </p:sp>
      <p:sp>
        <p:nvSpPr>
          <p:cNvPr id="39" name="object 39"/>
          <p:cNvSpPr txBox="1"/>
          <p:nvPr/>
        </p:nvSpPr>
        <p:spPr>
          <a:xfrm>
            <a:off x="4423664" y="5549594"/>
            <a:ext cx="37909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20,000</a:t>
            </a:r>
            <a:endParaRPr sz="1000">
              <a:latin typeface="Calibri"/>
              <a:cs typeface="Calibri"/>
            </a:endParaRPr>
          </a:p>
        </p:txBody>
      </p:sp>
      <p:sp>
        <p:nvSpPr>
          <p:cNvPr id="40" name="object 40"/>
          <p:cNvSpPr txBox="1"/>
          <p:nvPr/>
        </p:nvSpPr>
        <p:spPr>
          <a:xfrm>
            <a:off x="5171059" y="5549594"/>
            <a:ext cx="37909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40,000</a:t>
            </a:r>
            <a:endParaRPr sz="1000">
              <a:latin typeface="Calibri"/>
              <a:cs typeface="Calibri"/>
            </a:endParaRPr>
          </a:p>
        </p:txBody>
      </p:sp>
      <p:sp>
        <p:nvSpPr>
          <p:cNvPr id="41" name="object 41"/>
          <p:cNvSpPr txBox="1"/>
          <p:nvPr/>
        </p:nvSpPr>
        <p:spPr>
          <a:xfrm>
            <a:off x="7380478" y="5549594"/>
            <a:ext cx="44323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100,000</a:t>
            </a:r>
            <a:endParaRPr sz="1000">
              <a:latin typeface="Calibri"/>
              <a:cs typeface="Calibri"/>
            </a:endParaRPr>
          </a:p>
        </p:txBody>
      </p:sp>
      <p:sp>
        <p:nvSpPr>
          <p:cNvPr id="42" name="object 42"/>
          <p:cNvSpPr txBox="1"/>
          <p:nvPr/>
        </p:nvSpPr>
        <p:spPr>
          <a:xfrm>
            <a:off x="8127872" y="5549594"/>
            <a:ext cx="44323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120,000</a:t>
            </a:r>
            <a:endParaRPr sz="1000">
              <a:latin typeface="Calibri"/>
              <a:cs typeface="Calibri"/>
            </a:endParaRPr>
          </a:p>
        </p:txBody>
      </p:sp>
      <p:sp>
        <p:nvSpPr>
          <p:cNvPr id="43" name="object 43"/>
          <p:cNvSpPr txBox="1"/>
          <p:nvPr/>
        </p:nvSpPr>
        <p:spPr>
          <a:xfrm>
            <a:off x="8875268" y="5549594"/>
            <a:ext cx="44323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140,000</a:t>
            </a:r>
            <a:endParaRPr sz="1000">
              <a:latin typeface="Calibri"/>
              <a:cs typeface="Calibri"/>
            </a:endParaRPr>
          </a:p>
        </p:txBody>
      </p:sp>
      <p:sp>
        <p:nvSpPr>
          <p:cNvPr id="44" name="object 44"/>
          <p:cNvSpPr txBox="1"/>
          <p:nvPr/>
        </p:nvSpPr>
        <p:spPr>
          <a:xfrm>
            <a:off x="3525139" y="5234685"/>
            <a:ext cx="235585"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PHP</a:t>
            </a:r>
            <a:endParaRPr sz="1000">
              <a:latin typeface="Calibri"/>
              <a:cs typeface="Calibri"/>
            </a:endParaRPr>
          </a:p>
        </p:txBody>
      </p:sp>
      <p:sp>
        <p:nvSpPr>
          <p:cNvPr id="45" name="object 45"/>
          <p:cNvSpPr txBox="1"/>
          <p:nvPr/>
        </p:nvSpPr>
        <p:spPr>
          <a:xfrm>
            <a:off x="3538220" y="4935473"/>
            <a:ext cx="222250"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SQL</a:t>
            </a:r>
            <a:endParaRPr sz="1000">
              <a:latin typeface="Calibri"/>
              <a:cs typeface="Calibri"/>
            </a:endParaRPr>
          </a:p>
        </p:txBody>
      </p:sp>
      <p:sp>
        <p:nvSpPr>
          <p:cNvPr id="46" name="object 46"/>
          <p:cNvSpPr txBox="1"/>
          <p:nvPr/>
        </p:nvSpPr>
        <p:spPr>
          <a:xfrm>
            <a:off x="3604640" y="4636134"/>
            <a:ext cx="155575"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C#</a:t>
            </a:r>
            <a:endParaRPr sz="1000">
              <a:latin typeface="Calibri"/>
              <a:cs typeface="Calibri"/>
            </a:endParaRPr>
          </a:p>
        </p:txBody>
      </p:sp>
      <p:sp>
        <p:nvSpPr>
          <p:cNvPr id="47" name="object 47"/>
          <p:cNvSpPr txBox="1"/>
          <p:nvPr/>
        </p:nvSpPr>
        <p:spPr>
          <a:xfrm>
            <a:off x="3666490" y="4336796"/>
            <a:ext cx="94615" cy="177800"/>
          </a:xfrm>
          <a:prstGeom prst="rect">
            <a:avLst/>
          </a:prstGeom>
        </p:spPr>
        <p:txBody>
          <a:bodyPr vert="horz" wrap="square" lIns="0" tIns="12065" rIns="0" bIns="0" rtlCol="0">
            <a:spAutoFit/>
          </a:bodyPr>
          <a:lstStyle/>
          <a:p>
            <a:pPr marL="12700">
              <a:lnSpc>
                <a:spcPct val="100000"/>
              </a:lnSpc>
              <a:spcBef>
                <a:spcPts val="95"/>
              </a:spcBef>
            </a:pPr>
            <a:r>
              <a:rPr sz="1000" spc="-50" dirty="0">
                <a:latin typeface="Calibri"/>
                <a:cs typeface="Calibri"/>
              </a:rPr>
              <a:t>R</a:t>
            </a:r>
            <a:endParaRPr sz="1000">
              <a:latin typeface="Calibri"/>
              <a:cs typeface="Calibri"/>
            </a:endParaRPr>
          </a:p>
        </p:txBody>
      </p:sp>
      <p:sp>
        <p:nvSpPr>
          <p:cNvPr id="48" name="object 48"/>
          <p:cNvSpPr txBox="1"/>
          <p:nvPr/>
        </p:nvSpPr>
        <p:spPr>
          <a:xfrm>
            <a:off x="3588258" y="4037457"/>
            <a:ext cx="173990"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Go</a:t>
            </a:r>
            <a:endParaRPr sz="1000">
              <a:latin typeface="Calibri"/>
              <a:cs typeface="Calibri"/>
            </a:endParaRPr>
          </a:p>
        </p:txBody>
      </p:sp>
      <p:sp>
        <p:nvSpPr>
          <p:cNvPr id="49" name="object 49"/>
          <p:cNvSpPr txBox="1"/>
          <p:nvPr/>
        </p:nvSpPr>
        <p:spPr>
          <a:xfrm>
            <a:off x="3515995" y="3738117"/>
            <a:ext cx="244475"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alibri"/>
                <a:cs typeface="Calibri"/>
              </a:rPr>
              <a:t>Java</a:t>
            </a:r>
            <a:endParaRPr sz="1000">
              <a:latin typeface="Calibri"/>
              <a:cs typeface="Calibri"/>
            </a:endParaRPr>
          </a:p>
        </p:txBody>
      </p:sp>
      <p:sp>
        <p:nvSpPr>
          <p:cNvPr id="50" name="object 50"/>
          <p:cNvSpPr txBox="1"/>
          <p:nvPr/>
        </p:nvSpPr>
        <p:spPr>
          <a:xfrm>
            <a:off x="3229736" y="3438600"/>
            <a:ext cx="53149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Javascript</a:t>
            </a:r>
            <a:endParaRPr sz="1000">
              <a:latin typeface="Calibri"/>
              <a:cs typeface="Calibri"/>
            </a:endParaRPr>
          </a:p>
        </p:txBody>
      </p:sp>
      <p:sp>
        <p:nvSpPr>
          <p:cNvPr id="51" name="object 51"/>
          <p:cNvSpPr txBox="1"/>
          <p:nvPr/>
        </p:nvSpPr>
        <p:spPr>
          <a:xfrm>
            <a:off x="3541267" y="3139186"/>
            <a:ext cx="219710"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Calibri"/>
                <a:cs typeface="Calibri"/>
              </a:rPr>
              <a:t>C++</a:t>
            </a:r>
            <a:endParaRPr sz="1000">
              <a:latin typeface="Calibri"/>
              <a:cs typeface="Calibri"/>
            </a:endParaRPr>
          </a:p>
        </p:txBody>
      </p:sp>
      <p:sp>
        <p:nvSpPr>
          <p:cNvPr id="52" name="object 52"/>
          <p:cNvSpPr txBox="1"/>
          <p:nvPr/>
        </p:nvSpPr>
        <p:spPr>
          <a:xfrm>
            <a:off x="3369309" y="2839973"/>
            <a:ext cx="39052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Python</a:t>
            </a:r>
            <a:endParaRPr sz="1000">
              <a:latin typeface="Calibri"/>
              <a:cs typeface="Calibri"/>
            </a:endParaRPr>
          </a:p>
        </p:txBody>
      </p:sp>
      <p:sp>
        <p:nvSpPr>
          <p:cNvPr id="53" name="object 53"/>
          <p:cNvSpPr txBox="1"/>
          <p:nvPr/>
        </p:nvSpPr>
        <p:spPr>
          <a:xfrm>
            <a:off x="3475735" y="2540635"/>
            <a:ext cx="28448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libri"/>
                <a:cs typeface="Calibri"/>
              </a:rPr>
              <a:t>Swift</a:t>
            </a:r>
            <a:endParaRPr sz="1000">
              <a:latin typeface="Calibri"/>
              <a:cs typeface="Calibri"/>
            </a:endParaRPr>
          </a:p>
        </p:txBody>
      </p:sp>
      <p:sp>
        <p:nvSpPr>
          <p:cNvPr id="54" name="object 54"/>
          <p:cNvSpPr txBox="1"/>
          <p:nvPr/>
        </p:nvSpPr>
        <p:spPr>
          <a:xfrm>
            <a:off x="5875401" y="5241797"/>
            <a:ext cx="1210310" cy="678815"/>
          </a:xfrm>
          <a:prstGeom prst="rect">
            <a:avLst/>
          </a:prstGeom>
        </p:spPr>
        <p:txBody>
          <a:bodyPr vert="horz" wrap="square" lIns="0" tIns="12065" rIns="0" bIns="0" rtlCol="0">
            <a:spAutoFit/>
          </a:bodyPr>
          <a:lstStyle/>
          <a:p>
            <a:pPr marL="725170">
              <a:lnSpc>
                <a:spcPct val="100000"/>
              </a:lnSpc>
              <a:spcBef>
                <a:spcPts val="95"/>
              </a:spcBef>
            </a:pPr>
            <a:r>
              <a:rPr sz="1000" b="1" spc="-10" dirty="0">
                <a:solidFill>
                  <a:srgbClr val="FFFFFF"/>
                </a:solidFill>
                <a:latin typeface="Calibri"/>
                <a:cs typeface="Calibri"/>
              </a:rPr>
              <a:t>84,727</a:t>
            </a:r>
            <a:endParaRPr sz="1000">
              <a:latin typeface="Calibri"/>
              <a:cs typeface="Calibri"/>
            </a:endParaRPr>
          </a:p>
          <a:p>
            <a:pPr>
              <a:lnSpc>
                <a:spcPct val="100000"/>
              </a:lnSpc>
            </a:pPr>
            <a:endParaRPr sz="1000">
              <a:latin typeface="Calibri"/>
              <a:cs typeface="Calibri"/>
            </a:endParaRPr>
          </a:p>
          <a:p>
            <a:pPr marL="55244">
              <a:lnSpc>
                <a:spcPct val="100000"/>
              </a:lnSpc>
              <a:tabLst>
                <a:tab pos="802640" algn="l"/>
              </a:tabLst>
            </a:pPr>
            <a:r>
              <a:rPr sz="1000" spc="-10" dirty="0">
                <a:latin typeface="Calibri"/>
                <a:cs typeface="Calibri"/>
              </a:rPr>
              <a:t>60,000</a:t>
            </a:r>
            <a:r>
              <a:rPr sz="1000" dirty="0">
                <a:latin typeface="Calibri"/>
                <a:cs typeface="Calibri"/>
              </a:rPr>
              <a:t>	</a:t>
            </a:r>
            <a:r>
              <a:rPr sz="1000" spc="-10" dirty="0">
                <a:latin typeface="Calibri"/>
                <a:cs typeface="Calibri"/>
              </a:rPr>
              <a:t>80,000</a:t>
            </a:r>
            <a:endParaRPr sz="1000">
              <a:latin typeface="Calibri"/>
              <a:cs typeface="Calibri"/>
            </a:endParaRPr>
          </a:p>
          <a:p>
            <a:pPr marL="12700">
              <a:lnSpc>
                <a:spcPct val="100000"/>
              </a:lnSpc>
              <a:spcBef>
                <a:spcPts val="325"/>
              </a:spcBef>
            </a:pPr>
            <a:r>
              <a:rPr sz="1000" b="1" dirty="0">
                <a:latin typeface="Calibri"/>
                <a:cs typeface="Calibri"/>
              </a:rPr>
              <a:t>Average</a:t>
            </a:r>
            <a:r>
              <a:rPr sz="1000" b="1" spc="-20" dirty="0">
                <a:latin typeface="Calibri"/>
                <a:cs typeface="Calibri"/>
              </a:rPr>
              <a:t> </a:t>
            </a:r>
            <a:r>
              <a:rPr sz="1000" b="1" dirty="0">
                <a:latin typeface="Calibri"/>
                <a:cs typeface="Calibri"/>
              </a:rPr>
              <a:t>Annual</a:t>
            </a:r>
            <a:r>
              <a:rPr sz="1000" b="1" spc="-30" dirty="0">
                <a:latin typeface="Calibri"/>
                <a:cs typeface="Calibri"/>
              </a:rPr>
              <a:t> </a:t>
            </a:r>
            <a:r>
              <a:rPr sz="1000" b="1" spc="-10" dirty="0">
                <a:latin typeface="Calibri"/>
                <a:cs typeface="Calibri"/>
              </a:rPr>
              <a:t>Salary</a:t>
            </a:r>
            <a:endParaRPr sz="1000">
              <a:latin typeface="Calibri"/>
              <a:cs typeface="Calibri"/>
            </a:endParaRPr>
          </a:p>
        </p:txBody>
      </p:sp>
      <p:sp>
        <p:nvSpPr>
          <p:cNvPr id="55" name="object 55"/>
          <p:cNvSpPr txBox="1"/>
          <p:nvPr/>
        </p:nvSpPr>
        <p:spPr>
          <a:xfrm>
            <a:off x="3062351" y="3729930"/>
            <a:ext cx="152400" cy="523240"/>
          </a:xfrm>
          <a:prstGeom prst="rect">
            <a:avLst/>
          </a:prstGeom>
        </p:spPr>
        <p:txBody>
          <a:bodyPr vert="vert270" wrap="square" lIns="0" tIns="0" rIns="0" bIns="0" rtlCol="0">
            <a:spAutoFit/>
          </a:bodyPr>
          <a:lstStyle/>
          <a:p>
            <a:pPr marL="12700">
              <a:lnSpc>
                <a:spcPts val="1045"/>
              </a:lnSpc>
            </a:pPr>
            <a:r>
              <a:rPr sz="1000" b="1" spc="-10" dirty="0">
                <a:latin typeface="Calibri"/>
                <a:cs typeface="Calibri"/>
              </a:rPr>
              <a:t>Language</a:t>
            </a:r>
            <a:endParaRPr sz="1000">
              <a:latin typeface="Calibri"/>
              <a:cs typeface="Calibri"/>
            </a:endParaRPr>
          </a:p>
        </p:txBody>
      </p:sp>
      <p:sp>
        <p:nvSpPr>
          <p:cNvPr id="56" name="object 56"/>
          <p:cNvSpPr txBox="1"/>
          <p:nvPr/>
        </p:nvSpPr>
        <p:spPr>
          <a:xfrm>
            <a:off x="5205476" y="1941957"/>
            <a:ext cx="180149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Popular</a:t>
            </a:r>
            <a:r>
              <a:rPr sz="1800" b="1" spc="-70" dirty="0">
                <a:latin typeface="Calibri"/>
                <a:cs typeface="Calibri"/>
              </a:rPr>
              <a:t> </a:t>
            </a:r>
            <a:r>
              <a:rPr sz="1800" b="1" spc="-10" dirty="0">
                <a:latin typeface="Calibri"/>
                <a:cs typeface="Calibri"/>
              </a:rPr>
              <a:t>Languages</a:t>
            </a:r>
            <a:endParaRPr sz="18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70699" y="838200"/>
            <a:ext cx="1592784" cy="606833"/>
          </a:xfrm>
          <a:prstGeom prst="rect">
            <a:avLst/>
          </a:prstGeom>
        </p:spPr>
        <p:txBody>
          <a:bodyPr vert="horz" wrap="square" lIns="0" tIns="113284" rIns="0" bIns="0" rtlCol="0">
            <a:spAutoFit/>
          </a:bodyPr>
          <a:lstStyle/>
          <a:p>
            <a:pPr marL="312420">
              <a:lnSpc>
                <a:spcPct val="100000"/>
              </a:lnSpc>
              <a:spcBef>
                <a:spcPts val="95"/>
              </a:spcBef>
            </a:pPr>
            <a:r>
              <a:rPr sz="3200" spc="-65" dirty="0" smtClean="0"/>
              <a:t>T</a:t>
            </a:r>
            <a:r>
              <a:rPr lang="en-US" sz="3200" spc="-65" dirty="0" smtClean="0"/>
              <a:t>ab</a:t>
            </a:r>
            <a:r>
              <a:rPr sz="3200" spc="-160" dirty="0" smtClean="0"/>
              <a:t> </a:t>
            </a:r>
            <a:r>
              <a:rPr sz="3200" spc="-50" dirty="0"/>
              <a:t>1</a:t>
            </a:r>
          </a:p>
        </p:txBody>
      </p:sp>
      <p:pic>
        <p:nvPicPr>
          <p:cNvPr id="3" name="object 3"/>
          <p:cNvPicPr/>
          <p:nvPr/>
        </p:nvPicPr>
        <p:blipFill>
          <a:blip r:embed="rId2" cstate="print"/>
          <a:stretch>
            <a:fillRect/>
          </a:stretch>
        </p:blipFill>
        <p:spPr>
          <a:xfrm>
            <a:off x="2390775" y="1625600"/>
            <a:ext cx="8087359" cy="46672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34505" y="838200"/>
            <a:ext cx="1364184" cy="606833"/>
          </a:xfrm>
          <a:prstGeom prst="rect">
            <a:avLst/>
          </a:prstGeom>
        </p:spPr>
        <p:txBody>
          <a:bodyPr vert="horz" wrap="square" lIns="0" tIns="113284" rIns="0" bIns="0" rtlCol="0">
            <a:spAutoFit/>
          </a:bodyPr>
          <a:lstStyle/>
          <a:p>
            <a:pPr marL="312420">
              <a:lnSpc>
                <a:spcPct val="100000"/>
              </a:lnSpc>
              <a:spcBef>
                <a:spcPts val="95"/>
              </a:spcBef>
            </a:pPr>
            <a:r>
              <a:rPr lang="en-US" sz="3200" spc="-65" dirty="0"/>
              <a:t>Tab</a:t>
            </a:r>
            <a:r>
              <a:rPr lang="en-US" sz="3200" spc="-160" dirty="0"/>
              <a:t> </a:t>
            </a:r>
            <a:r>
              <a:rPr lang="en-US" sz="3200" spc="-50" dirty="0" smtClean="0"/>
              <a:t>2</a:t>
            </a:r>
            <a:endParaRPr sz="3200" spc="-50" dirty="0"/>
          </a:p>
        </p:txBody>
      </p:sp>
      <p:pic>
        <p:nvPicPr>
          <p:cNvPr id="3" name="object 3"/>
          <p:cNvPicPr/>
          <p:nvPr/>
        </p:nvPicPr>
        <p:blipFill>
          <a:blip r:embed="rId2" cstate="print"/>
          <a:stretch>
            <a:fillRect/>
          </a:stretch>
        </p:blipFill>
        <p:spPr>
          <a:xfrm>
            <a:off x="2370201" y="1627403"/>
            <a:ext cx="8278749" cy="48239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24400" y="838200"/>
            <a:ext cx="1432941" cy="606833"/>
          </a:xfrm>
          <a:prstGeom prst="rect">
            <a:avLst/>
          </a:prstGeom>
        </p:spPr>
        <p:txBody>
          <a:bodyPr vert="horz" wrap="square" lIns="0" tIns="113284" rIns="0" bIns="0" rtlCol="0">
            <a:spAutoFit/>
          </a:bodyPr>
          <a:lstStyle/>
          <a:p>
            <a:pPr marL="312420">
              <a:lnSpc>
                <a:spcPct val="100000"/>
              </a:lnSpc>
              <a:spcBef>
                <a:spcPts val="95"/>
              </a:spcBef>
            </a:pPr>
            <a:r>
              <a:rPr lang="en-US" sz="3200" spc="-65" dirty="0"/>
              <a:t>Tab</a:t>
            </a:r>
            <a:r>
              <a:rPr lang="en-US" sz="3200" spc="-160" dirty="0"/>
              <a:t> </a:t>
            </a:r>
            <a:r>
              <a:rPr lang="en-US" sz="3200" spc="-50" dirty="0" smtClean="0"/>
              <a:t>3</a:t>
            </a:r>
            <a:endParaRPr sz="3200" spc="-50" dirty="0"/>
          </a:p>
        </p:txBody>
      </p:sp>
      <p:pic>
        <p:nvPicPr>
          <p:cNvPr id="3" name="object 3"/>
          <p:cNvPicPr/>
          <p:nvPr/>
        </p:nvPicPr>
        <p:blipFill>
          <a:blip r:embed="rId2" cstate="print"/>
          <a:stretch>
            <a:fillRect/>
          </a:stretch>
        </p:blipFill>
        <p:spPr>
          <a:xfrm>
            <a:off x="2118741" y="1589150"/>
            <a:ext cx="8845296" cy="47862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72025" y="914400"/>
            <a:ext cx="2286000" cy="504625"/>
          </a:xfrm>
          <a:prstGeom prst="rect">
            <a:avLst/>
          </a:prstGeom>
        </p:spPr>
        <p:txBody>
          <a:bodyPr vert="horz" wrap="square" lIns="0" tIns="12065" rIns="0" bIns="0" rtlCol="0">
            <a:spAutoFit/>
          </a:bodyPr>
          <a:lstStyle/>
          <a:p>
            <a:pPr marL="12700">
              <a:lnSpc>
                <a:spcPct val="100000"/>
              </a:lnSpc>
              <a:spcBef>
                <a:spcPts val="95"/>
              </a:spcBef>
            </a:pPr>
            <a:r>
              <a:rPr sz="3200" spc="-10" dirty="0"/>
              <a:t>CONCLUSION</a:t>
            </a:r>
          </a:p>
        </p:txBody>
      </p:sp>
      <p:sp>
        <p:nvSpPr>
          <p:cNvPr id="4" name="object 4"/>
          <p:cNvSpPr txBox="1">
            <a:spLocks noGrp="1"/>
          </p:cNvSpPr>
          <p:nvPr>
            <p:ph type="body" idx="1"/>
          </p:nvPr>
        </p:nvSpPr>
        <p:spPr>
          <a:xfrm>
            <a:off x="1066800" y="2081529"/>
            <a:ext cx="9808209" cy="3086742"/>
          </a:xfrm>
          <a:prstGeom prst="rect">
            <a:avLst/>
          </a:prstGeom>
        </p:spPr>
        <p:txBody>
          <a:bodyPr vert="horz" wrap="square" lIns="0" tIns="39370" rIns="0" bIns="0" rtlCol="0">
            <a:spAutoFit/>
          </a:bodyPr>
          <a:lstStyle/>
          <a:p>
            <a:pPr marL="285750" indent="-285750">
              <a:buFont typeface="Arial" panose="020B0604020202020204" pitchFamily="34" charset="0"/>
              <a:buChar char="•"/>
            </a:pPr>
            <a:r>
              <a:rPr lang="en-US" dirty="0"/>
              <a:t>PostgreSQL remains the leading database, demonstrating strong growth, while SQLite is emerging as a key solution for lightweight and embedded applications</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 and SQL are gaining momentum, reflecting a shift toward backend and enterprise-focused development, whereas JavaScript continues to be widely used despite a slight decline</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Cloud adoption is becoming more diverse, with platforms such as Google Cloud and </a:t>
            </a:r>
            <a:r>
              <a:rPr lang="en-US" dirty="0" err="1"/>
              <a:t>DigitalOcean</a:t>
            </a:r>
            <a:r>
              <a:rPr lang="en-US" dirty="0"/>
              <a:t> increasing in popularity, although AWS continues to dominate the market</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Frameworks such as React, Spring Boot, and </a:t>
            </a:r>
            <a:r>
              <a:rPr lang="en-US" dirty="0" err="1"/>
              <a:t>FastAPI</a:t>
            </a:r>
            <a:r>
              <a:rPr lang="en-US" dirty="0"/>
              <a:t> are shaping the future of web development, with </a:t>
            </a:r>
            <a:r>
              <a:rPr lang="en-US" dirty="0" err="1"/>
              <a:t>FastAPI’s</a:t>
            </a:r>
            <a:r>
              <a:rPr lang="en-US" dirty="0"/>
              <a:t> rapid adoption highlighting the growing importance of Python-based API development.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01920" y="837338"/>
            <a:ext cx="2659584" cy="606833"/>
          </a:xfrm>
          <a:prstGeom prst="rect">
            <a:avLst/>
          </a:prstGeom>
        </p:spPr>
        <p:txBody>
          <a:bodyPr vert="horz" wrap="square" lIns="0" tIns="113284" rIns="0" bIns="0" rtlCol="0">
            <a:spAutoFit/>
          </a:bodyPr>
          <a:lstStyle/>
          <a:p>
            <a:pPr marL="312420">
              <a:lnSpc>
                <a:spcPct val="100000"/>
              </a:lnSpc>
              <a:spcBef>
                <a:spcPts val="95"/>
              </a:spcBef>
            </a:pPr>
            <a:r>
              <a:rPr sz="3200" spc="-10" dirty="0"/>
              <a:t>APPENDIX</a:t>
            </a:r>
          </a:p>
        </p:txBody>
      </p:sp>
      <p:sp>
        <p:nvSpPr>
          <p:cNvPr id="4" name="Rectangle 3"/>
          <p:cNvSpPr/>
          <p:nvPr/>
        </p:nvSpPr>
        <p:spPr>
          <a:xfrm>
            <a:off x="754912" y="1447800"/>
            <a:ext cx="9753600" cy="4770537"/>
          </a:xfrm>
          <a:prstGeom prst="rect">
            <a:avLst/>
          </a:prstGeom>
        </p:spPr>
        <p:txBody>
          <a:bodyPr wrap="square">
            <a:spAutoFit/>
          </a:bodyPr>
          <a:lstStyle/>
          <a:p>
            <a:r>
              <a:rPr lang="en-US" sz="1600" dirty="0" smtClean="0"/>
              <a:t>This section provides supplementary materials that support the analysis and findings presented in this study. It includes additional datasets, visualizations, and supporting charts used during the exploratory and analytical phases of the project.</a:t>
            </a:r>
          </a:p>
          <a:p>
            <a:endParaRPr lang="en-US" sz="1600" dirty="0" smtClean="0"/>
          </a:p>
          <a:p>
            <a:pPr>
              <a:buFont typeface="Arial" panose="020B0604020202020204" pitchFamily="34" charset="0"/>
              <a:buChar char="•"/>
            </a:pPr>
            <a:r>
              <a:rPr lang="en-US" sz="1600" b="1" dirty="0" smtClean="0"/>
              <a:t>Additional Visualizations:</a:t>
            </a:r>
            <a:r>
              <a:rPr lang="en-US" sz="1600" dirty="0" smtClean="0"/>
              <a:t/>
            </a:r>
            <a:br>
              <a:rPr lang="en-US" sz="1600" dirty="0" smtClean="0"/>
            </a:br>
            <a:r>
              <a:rPr lang="en-US" sz="1600" dirty="0" smtClean="0"/>
              <a:t>Extended charts illustrating job postings by technology, popular programming languages, and salary distributions across different technologies. </a:t>
            </a:r>
          </a:p>
          <a:p>
            <a:pPr>
              <a:buFont typeface="Arial" panose="020B0604020202020204" pitchFamily="34" charset="0"/>
              <a:buChar char="•"/>
            </a:pPr>
            <a:endParaRPr lang="en-US" sz="1600" dirty="0" smtClean="0"/>
          </a:p>
          <a:p>
            <a:pPr>
              <a:buFont typeface="Arial" panose="020B0604020202020204" pitchFamily="34" charset="0"/>
              <a:buChar char="•"/>
            </a:pPr>
            <a:r>
              <a:rPr lang="en-US" sz="1600" b="1" dirty="0" smtClean="0"/>
              <a:t>Dataset Overview:</a:t>
            </a:r>
            <a:r>
              <a:rPr lang="en-US" sz="1600" dirty="0" smtClean="0"/>
              <a:t/>
            </a:r>
            <a:br>
              <a:rPr lang="en-US" sz="1600" dirty="0" smtClean="0"/>
            </a:br>
            <a:r>
              <a:rPr lang="en-US" sz="1600" dirty="0" smtClean="0"/>
              <a:t>The dataset is derived from the Stack Overflow Developer Survey and was pre-processed to ensure accuracy, consistency, and reliability before analysis. </a:t>
            </a:r>
          </a:p>
          <a:p>
            <a:pPr>
              <a:buFont typeface="Arial" panose="020B0604020202020204" pitchFamily="34" charset="0"/>
              <a:buChar char="•"/>
            </a:pPr>
            <a:endParaRPr lang="en-US" sz="1600" dirty="0" smtClean="0"/>
          </a:p>
          <a:p>
            <a:pPr>
              <a:buFont typeface="Arial" panose="020B0604020202020204" pitchFamily="34" charset="0"/>
              <a:buChar char="•"/>
            </a:pPr>
            <a:r>
              <a:rPr lang="en-US" sz="1600" b="1" dirty="0" smtClean="0"/>
              <a:t>Dashboard Tabs:</a:t>
            </a:r>
            <a:r>
              <a:rPr lang="en-US" sz="1600" dirty="0" smtClean="0"/>
              <a:t/>
            </a:r>
            <a:br>
              <a:rPr lang="en-US" sz="1600" dirty="0" smtClean="0"/>
            </a:br>
            <a:r>
              <a:rPr lang="en-US" sz="1600" dirty="0" smtClean="0"/>
              <a:t>Supporting dashboard components, including multiple tabs (Tab 1, Tab 2, Tab 3), showcasing different perspectives of the data such as technology usage, trends, and demographic insights. </a:t>
            </a:r>
          </a:p>
          <a:p>
            <a:pPr>
              <a:buFont typeface="Arial" panose="020B0604020202020204" pitchFamily="34" charset="0"/>
              <a:buChar char="•"/>
            </a:pPr>
            <a:endParaRPr lang="en-US" sz="1600" dirty="0" smtClean="0"/>
          </a:p>
          <a:p>
            <a:pPr>
              <a:buFont typeface="Arial" panose="020B0604020202020204" pitchFamily="34" charset="0"/>
              <a:buChar char="•"/>
            </a:pPr>
            <a:r>
              <a:rPr lang="en-US" sz="1600" b="1" dirty="0" smtClean="0"/>
              <a:t>Supporting Figures:</a:t>
            </a:r>
            <a:r>
              <a:rPr lang="en-US" sz="1600" dirty="0" smtClean="0"/>
              <a:t/>
            </a:r>
            <a:br>
              <a:rPr lang="en-US" sz="1600" dirty="0" smtClean="0"/>
            </a:br>
            <a:r>
              <a:rPr lang="en-US" sz="1600" dirty="0" smtClean="0"/>
              <a:t>Graphs such as “Jobs Posting for Each Technology” and “Popular Languages” used to validate trends and reinforce key findings discussed in the results section.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1C6CD"/>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TotalTime>
  <Words>1027</Words>
  <Application>Microsoft Office PowerPoint</Application>
  <PresentationFormat>Widescreen</PresentationFormat>
  <Paragraphs>184</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Arial MT</vt:lpstr>
      <vt:lpstr>Calibri</vt:lpstr>
      <vt:lpstr>Office Theme</vt:lpstr>
      <vt:lpstr>Data Analyst Capstone Project: Stack Overflow Developer Survey Data</vt:lpstr>
      <vt:lpstr>OUTLINE</vt:lpstr>
      <vt:lpstr>EXECUTIVE SUMMARY</vt:lpstr>
      <vt:lpstr>INTRODUCTION</vt:lpstr>
      <vt:lpstr>METHODOLOGY</vt:lpstr>
      <vt:lpstr>RESULTS</vt:lpstr>
      <vt:lpstr>Programming Language Trends</vt:lpstr>
      <vt:lpstr>Programming Language Trends</vt:lpstr>
      <vt:lpstr>Programming Language Trends: Findings and Implications</vt:lpstr>
      <vt:lpstr>Database Trends</vt:lpstr>
      <vt:lpstr>Database Trends</vt:lpstr>
      <vt:lpstr>Database Trends: Findings and Implications </vt:lpstr>
      <vt:lpstr>OVERALL FINDINGS &amp; IMPLICATIONS</vt:lpstr>
      <vt:lpstr>AGE/DATABASESE</vt:lpstr>
      <vt:lpstr>JOB POSTINGS</vt:lpstr>
      <vt:lpstr>POPULAR LANGUAGES</vt:lpstr>
      <vt:lpstr>Tab 1</vt:lpstr>
      <vt:lpstr>Tab 2</vt:lpstr>
      <vt:lpstr>Tab 3</vt:lpstr>
      <vt:lpstr>CONCLUSION</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Overflow  survey data</dc:title>
  <dc:creator>Tori Sleeper</dc:creator>
  <cp:lastModifiedBy>Vijay Asia</cp:lastModifiedBy>
  <cp:revision>10</cp:revision>
  <dcterms:created xsi:type="dcterms:W3CDTF">2026-03-23T16:20:03Z</dcterms:created>
  <dcterms:modified xsi:type="dcterms:W3CDTF">2026-03-23T18:19:09Z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2025-01-28T00:00:00Z</vt:filetime>
  </property>
  <property fmtid="{D5CDD505-2E9C-101B-9397-08002B2CF9AE}" pid="3" name="Creator">
    <vt:lpwstr>Microsoft® PowerPoint® 2010</vt:lpwstr>
  </property>
  <property fmtid="{D5CDD505-2E9C-101B-9397-08002B2CF9AE}" pid="4" name="LastSaved">
    <vt:filetime>2026-03-23T00:00:00Z</vt:filetime>
  </property>
  <property fmtid="{D5CDD505-2E9C-101B-9397-08002B2CF9AE}" pid="5" name="Producer">
    <vt:lpwstr>Microsoft® PowerPoint® 2010</vt:lpwstr>
  </property>
</Properties>
</file>